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  <p:sldId id="272" r:id="rId15"/>
    <p:sldId id="273" r:id="rId16"/>
    <p:sldId id="274" r:id="rId17"/>
    <p:sldId id="275" r:id="rId18"/>
    <p:sldId id="276" r:id="rId19"/>
    <p:sldId id="268" r:id="rId20"/>
    <p:sldId id="277" r:id="rId21"/>
    <p:sldId id="278" r:id="rId22"/>
    <p:sldId id="269" r:id="rId23"/>
    <p:sldId id="270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419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CBFD8-BE97-F22A-A134-05B2959DF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66D485-2CC0-BC31-4B1C-CA262314C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325B07-F89C-6226-7C77-5E3377A037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4BB349-8205-E1A6-5FDE-F3B224DE58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9859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B0E5D-DAC8-24DB-4055-D5D5D3F6D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5694F7-395F-BB2F-7DE4-0274E5032E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B3577C-A266-7568-2C74-3BDA2B1C91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AB4CAB-03B0-1549-41A5-18E7CED08D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0419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0720E-0FB6-AF92-0ED3-7CF833D70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FA17A0-D5B4-ADD0-2B2C-8CC0BF6870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BE51FC-988F-CE1E-B4B5-E3548FA269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E14DD9-CCD3-BB8E-50DF-1543F62E20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0977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D6B3A-8ABE-34AC-8E55-A5458AA65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B9CAA0-AF52-A39E-EB6A-1CEC9D31E8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2435FB-A11A-F527-63CE-19A8E8548B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FFFB84-9907-419E-E781-24A12A079A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9050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0962B-E1C2-1E6F-5F3B-2A089C06D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B44464-FD00-7C0C-AA8F-BDC450E603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6E92A3-C503-A8F0-008D-8B3C52E41D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4FAE50-ECBC-B1B4-878A-CB00C69397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7936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6F6A5-689C-35A2-5DC7-B266A3086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8CC2A2-5045-9422-4F15-B1EA5BE798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A48308-753D-40C6-13D8-AF8308882C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E8BFA7-71A8-B429-9D87-D0F8164664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5675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2D0E0-446C-887F-F33E-F93FEB869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1C8ED2-EF85-F0FE-792C-D7A61222B2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61CB23-7EEC-B71F-CEF2-6A6E7B1D1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9C2CE5-5C6F-A93C-1CF8-775F4B7C61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2744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CC7A-7BA0-766D-DDA3-0DE1F56EF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3B38B7-DAF7-2B9C-F28B-CC40DBA9FF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B5C490-DA1B-DFF1-C4F2-DB3EB742A4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E25405-91CB-6292-2F4C-3F8BE32C11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6313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2A0A00"/>
          </a:solidFill>
          <a:ln w="12700">
            <a:solidFill>
              <a:srgbClr val="2A0A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5669280" cy="5143500"/>
          </a:xfrm>
          <a:prstGeom prst="rect">
            <a:avLst/>
          </a:prstGeom>
          <a:solidFill>
            <a:srgbClr val="1A0500"/>
          </a:solidFill>
          <a:ln w="12700">
            <a:solidFill>
              <a:srgbClr val="1A05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0"/>
            <a:ext cx="2926080" cy="2926080"/>
          </a:xfrm>
          <a:prstGeom prst="ellipse">
            <a:avLst/>
          </a:prstGeom>
          <a:solidFill>
            <a:srgbClr val="D4500A">
              <a:alpha val="22000"/>
            </a:srgbClr>
          </a:solidFill>
          <a:ln w="12700">
            <a:solidFill>
              <a:srgbClr val="E87D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2011680" cy="2011680"/>
          </a:xfrm>
          <a:prstGeom prst="ellipse">
            <a:avLst/>
          </a:prstGeom>
          <a:solidFill>
            <a:srgbClr val="F5C842">
              <a:alpha val="40000"/>
            </a:srgbClr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103120"/>
            <a:ext cx="73152" cy="1097280"/>
          </a:xfrm>
          <a:prstGeom prst="rect">
            <a:avLst/>
          </a:prstGeom>
          <a:solidFill>
            <a:srgbClr val="E87D1E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1920240"/>
            <a:ext cx="73152" cy="1280160"/>
          </a:xfrm>
          <a:prstGeom prst="rect">
            <a:avLst/>
          </a:prstGeom>
          <a:solidFill>
            <a:srgbClr val="E87D1E">
              <a:alpha val="27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1737360"/>
            <a:ext cx="73152" cy="1463040"/>
          </a:xfrm>
          <a:prstGeom prst="rect">
            <a:avLst/>
          </a:prstGeom>
          <a:solidFill>
            <a:srgbClr val="E87D1E">
              <a:alpha val="39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08760" y="1554480"/>
            <a:ext cx="73152" cy="1645920"/>
          </a:xfrm>
          <a:prstGeom prst="rect">
            <a:avLst/>
          </a:prstGeom>
          <a:solidFill>
            <a:srgbClr val="E87D1E">
              <a:alpha val="51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0" y="1371600"/>
            <a:ext cx="73152" cy="1828800"/>
          </a:xfrm>
          <a:prstGeom prst="rect">
            <a:avLst/>
          </a:prstGeom>
          <a:solidFill>
            <a:srgbClr val="E87D1E">
              <a:alpha val="63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5486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Heat Conduction Equation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74720" y="12344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4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in MATLAB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3474720" y="1828800"/>
            <a:ext cx="5303520" cy="36576"/>
          </a:xfrm>
          <a:prstGeom prst="rect">
            <a:avLst/>
          </a:prstGeom>
          <a:solidFill>
            <a:srgbClr val="E87D1E"/>
          </a:solidFill>
          <a:ln w="12700">
            <a:solidFill>
              <a:srgbClr val="E87D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19385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No: EEE 212  ·  Numerical Technique Laboratory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22311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Section: L-2, T-1, Section 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74720" y="26517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7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29260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Maruf Ahmed — Assistant Professor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Kamrul Hasan — Lecturer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26517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7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29260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Arnob Pal  ·  ID: 2306095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Ziaur Rahman Zihan  ·  ID: 2306096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0" y="44805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 University of Engineering &amp; Technology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D4500A"/>
          </a:solidFill>
          <a:ln w="12700">
            <a:solidFill>
              <a:srgbClr val="D450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91032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EEE 212 · Numerical Technique Laboratory · BUET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D4500A"/>
          </a:solidFill>
          <a:ln w="12700">
            <a:solidFill>
              <a:srgbClr val="D45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4206240" cy="298704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D450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ECD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Abstract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D450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ECD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Introduction &amp; Background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D450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ECD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Theory Overview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D450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ECD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Algorithm Flowchart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D450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ECD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System Architecture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D450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ECD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Implementation Steps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005840"/>
          <a:ext cx="4114800" cy="246888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D450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ECD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GUI Overview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D450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ECD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Parameter Analysis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D450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ECD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Solver Capabilities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D450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ECD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Limitations &amp; Challenges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D450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ECD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Conclusion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1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12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91440" y="1005840"/>
            <a:ext cx="73152" cy="3291840"/>
          </a:xfrm>
          <a:prstGeom prst="rect">
            <a:avLst/>
          </a:prstGeom>
          <a:solidFill>
            <a:srgbClr val="D4500A"/>
          </a:solidFill>
          <a:ln w="12700">
            <a:solidFill>
              <a:srgbClr val="D4500A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4434840" y="1005840"/>
            <a:ext cx="73152" cy="3291840"/>
          </a:xfrm>
          <a:prstGeom prst="rect">
            <a:avLst/>
          </a:prstGeom>
          <a:solidFill>
            <a:srgbClr val="E87D1E"/>
          </a:solidFill>
          <a:ln w="12700">
            <a:solidFill>
              <a:srgbClr val="E87D1E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D4500A"/>
          </a:solidFill>
          <a:ln w="12700">
            <a:solidFill>
              <a:srgbClr val="D45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7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Heat Conduction FEM Solver in MATLAB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651760" cy="1417320"/>
          </a:xfrm>
          <a:prstGeom prst="rect">
            <a:avLst/>
          </a:prstGeom>
          <a:solidFill>
            <a:srgbClr val="2E1505"/>
          </a:solidFill>
          <a:ln w="12700">
            <a:solidFill>
              <a:srgbClr val="D4500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2651760" cy="292608"/>
          </a:xfrm>
          <a:prstGeom prst="rect">
            <a:avLst/>
          </a:prstGeom>
          <a:solidFill>
            <a:srgbClr val="D4500A"/>
          </a:solidFill>
          <a:ln w="12700">
            <a:solidFill>
              <a:srgbClr val="D450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4241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Objective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353312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the 2D steady-state heat conduction (Laplace) equation over complex L-shaped domains.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651760" cy="1417320"/>
          </a:xfrm>
          <a:prstGeom prst="rect">
            <a:avLst/>
          </a:prstGeom>
          <a:solidFill>
            <a:srgbClr val="2E1505"/>
          </a:solidFill>
          <a:ln w="12700">
            <a:solidFill>
              <a:srgbClr val="D4500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05840"/>
            <a:ext cx="2651760" cy="292608"/>
          </a:xfrm>
          <a:prstGeom prst="rect">
            <a:avLst/>
          </a:prstGeom>
          <a:solidFill>
            <a:srgbClr val="D4500A"/>
          </a:solidFill>
          <a:ln w="12700">
            <a:solidFill>
              <a:srgbClr val="D450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04241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Method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37560" y="1353312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Element Method (FEM) using T3 triangular elements with linear shape functions.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1005840"/>
            <a:ext cx="2651760" cy="1417320"/>
          </a:xfrm>
          <a:prstGeom prst="rect">
            <a:avLst/>
          </a:prstGeom>
          <a:solidFill>
            <a:srgbClr val="2E1505"/>
          </a:solidFill>
          <a:ln w="12700">
            <a:solidFill>
              <a:srgbClr val="D4500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005840"/>
            <a:ext cx="2651760" cy="292608"/>
          </a:xfrm>
          <a:prstGeom prst="rect">
            <a:avLst/>
          </a:prstGeom>
          <a:solidFill>
            <a:srgbClr val="D4500A"/>
          </a:solidFill>
          <a:ln w="12700">
            <a:solidFill>
              <a:srgbClr val="D450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04241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Key Idea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63640" y="1353312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discretized into triangular elements; temperature approximated via nodal shape functions.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697480"/>
            <a:ext cx="2651760" cy="1417320"/>
          </a:xfrm>
          <a:prstGeom prst="rect">
            <a:avLst/>
          </a:prstGeom>
          <a:solidFill>
            <a:srgbClr val="2E1505"/>
          </a:solidFill>
          <a:ln w="12700">
            <a:solidFill>
              <a:srgbClr val="D4500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697480"/>
            <a:ext cx="2651760" cy="292608"/>
          </a:xfrm>
          <a:prstGeom prst="rect">
            <a:avLst/>
          </a:prstGeom>
          <a:solidFill>
            <a:srgbClr val="D4500A"/>
          </a:solidFill>
          <a:ln w="12700">
            <a:solidFill>
              <a:srgbClr val="D450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73405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Tool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044952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App Designer GUI for interactive parameter input and real-world scenario simulation.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2697480"/>
            <a:ext cx="2651760" cy="1417320"/>
          </a:xfrm>
          <a:prstGeom prst="rect">
            <a:avLst/>
          </a:prstGeom>
          <a:solidFill>
            <a:srgbClr val="2E1505"/>
          </a:solidFill>
          <a:ln w="12700">
            <a:solidFill>
              <a:srgbClr val="D4500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2697480"/>
            <a:ext cx="2651760" cy="292608"/>
          </a:xfrm>
          <a:prstGeom prst="rect">
            <a:avLst/>
          </a:prstGeom>
          <a:solidFill>
            <a:srgbClr val="D4500A"/>
          </a:solidFill>
          <a:ln w="12700">
            <a:solidFill>
              <a:srgbClr val="D450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273405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Output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37560" y="3044952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distribution visualized via patch plots with color interpolation and colorbars.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46120" y="2697480"/>
            <a:ext cx="2651760" cy="1417320"/>
          </a:xfrm>
          <a:prstGeom prst="rect">
            <a:avLst/>
          </a:prstGeom>
          <a:solidFill>
            <a:srgbClr val="2E1505"/>
          </a:solidFill>
          <a:ln w="12700">
            <a:solidFill>
              <a:srgbClr val="D4500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6120" y="2697480"/>
            <a:ext cx="2651760" cy="292608"/>
          </a:xfrm>
          <a:prstGeom prst="rect">
            <a:avLst/>
          </a:prstGeom>
          <a:solidFill>
            <a:srgbClr val="D4500A"/>
          </a:solidFill>
          <a:ln w="12700">
            <a:solidFill>
              <a:srgbClr val="D4500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273405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Tool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37560" y="30632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App Designer GUI for interactive parameter input and real-world scenario simulation.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2697480"/>
            <a:ext cx="2651760" cy="1417320"/>
          </a:xfrm>
          <a:prstGeom prst="rect">
            <a:avLst/>
          </a:prstGeom>
          <a:solidFill>
            <a:srgbClr val="2E1505"/>
          </a:solidFill>
          <a:ln w="12700">
            <a:solidFill>
              <a:srgbClr val="D4500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2697480"/>
            <a:ext cx="2651760" cy="292608"/>
          </a:xfrm>
          <a:prstGeom prst="rect">
            <a:avLst/>
          </a:prstGeom>
          <a:solidFill>
            <a:srgbClr val="D4500A"/>
          </a:solidFill>
          <a:ln w="12700">
            <a:solidFill>
              <a:srgbClr val="D4500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273405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Output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26480" y="30632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distribution visualized via patch plots with color interpolation and colorbars.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D4500A"/>
          </a:solidFill>
          <a:ln w="12700">
            <a:solidFill>
              <a:srgbClr val="D45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BACKGROUND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7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2D Heat Conduction Matters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4937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transfer is central to engineering: circuit design, power systems, aerospace structures, and energy devices.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2D heat equation models how temperature varies spatially under given physical conditions.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solutions fail for irregular geometries, non-uniform materials, and complex boundary conditions.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methods — especially FEM — bridge this gap with high accuracy.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0" y="960120"/>
            <a:ext cx="3383280" cy="3749040"/>
          </a:xfrm>
          <a:prstGeom prst="rect">
            <a:avLst/>
          </a:prstGeom>
          <a:solidFill>
            <a:srgbClr val="2E1505"/>
          </a:solidFill>
          <a:ln w="12700">
            <a:solidFill>
              <a:srgbClr val="E87D1E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0" y="960120"/>
            <a:ext cx="3383280" cy="347472"/>
          </a:xfrm>
          <a:prstGeom prst="rect">
            <a:avLst/>
          </a:prstGeom>
          <a:solidFill>
            <a:srgbClr val="E87D1E"/>
          </a:solidFill>
          <a:ln w="12700">
            <a:solidFill>
              <a:srgbClr val="E87D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77840" y="9875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 Overview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77840" y="1371600"/>
            <a:ext cx="3200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the domain into triangular elements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shape functions per node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element-level equations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global stiffness matrix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boundary conditions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for temperature field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3611880"/>
            <a:ext cx="4937760" cy="1143000"/>
          </a:xfrm>
          <a:prstGeom prst="rect">
            <a:avLst/>
          </a:prstGeom>
          <a:solidFill>
            <a:srgbClr val="2E1505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657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9319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robust FEM solver for 2D steady-state heat equation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Dirichlet &amp; Robin (convection) boundary conditions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thermal behavior with MATLAB App Designer GUI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D4500A"/>
          </a:solidFill>
          <a:ln w="12700">
            <a:solidFill>
              <a:srgbClr val="D45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OVERVIEW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7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Governing Equations &amp; FEM Formulation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114800" cy="1920240"/>
          </a:xfrm>
          <a:prstGeom prst="rect">
            <a:avLst/>
          </a:prstGeom>
          <a:solidFill>
            <a:srgbClr val="2E1505"/>
          </a:solidFill>
          <a:ln w="12700">
            <a:solidFill>
              <a:srgbClr val="D4500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4114800" cy="320040"/>
          </a:xfrm>
          <a:prstGeom prst="rect">
            <a:avLst/>
          </a:prstGeom>
          <a:solidFill>
            <a:srgbClr val="D4500A"/>
          </a:solidFill>
          <a:ln w="12700">
            <a:solidFill>
              <a:srgbClr val="D450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875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Governing Equation (Laplace)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35331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∂/∂x(k · ∂T/∂x) + ∂/∂y(k · ∂T/∂y) = 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Isotropic material: kx = ky = k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heat flux into any control volume = 0 (steady state)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160520" cy="1920240"/>
          </a:xfrm>
          <a:prstGeom prst="rect">
            <a:avLst/>
          </a:prstGeom>
          <a:solidFill>
            <a:srgbClr val="2E1505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960120"/>
            <a:ext cx="4160520" cy="320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9875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Conditions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1344168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7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Dirichlet (left boundary): T(0,y) = T_boundary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Robin / Convection: -k∇T·n = h(T - T∞)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convection coefficient, T∞ = 20°C ambient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in a 3rd-Kind Boundary Value Problem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999232"/>
            <a:ext cx="4114800" cy="1783080"/>
          </a:xfrm>
          <a:prstGeom prst="rect">
            <a:avLst/>
          </a:prstGeom>
          <a:solidFill>
            <a:srgbClr val="2E1505"/>
          </a:solidFill>
          <a:ln w="12700">
            <a:solidFill>
              <a:srgbClr val="E87D1E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999232"/>
            <a:ext cx="4114800" cy="292608"/>
          </a:xfrm>
          <a:prstGeom prst="rect">
            <a:avLst/>
          </a:prstGeom>
          <a:solidFill>
            <a:srgbClr val="E87D1E"/>
          </a:solidFill>
          <a:ln w="12700">
            <a:solidFill>
              <a:srgbClr val="E87D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01752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[B] Matrix — Shape Function Gradients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32841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[B] = [ b₁/2A  b₂/2A  b₃/2A 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 c₁/2A  c₂/2A  c₃/2A ]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8404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gradient across each T3 element → constant heat flux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999232"/>
            <a:ext cx="4160520" cy="1783080"/>
          </a:xfrm>
          <a:prstGeom prst="rect">
            <a:avLst/>
          </a:prstGeom>
          <a:solidFill>
            <a:srgbClr val="2E1505"/>
          </a:solidFill>
          <a:ln w="12700">
            <a:solidFill>
              <a:srgbClr val="F5C842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999232"/>
            <a:ext cx="4160520" cy="29260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01752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[D] &amp; Stiffness Matrix [Kc]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3328416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[D] = [ k  0 ]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[ 0  k 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Kc = t · A · [B]ᵀ [D] [B]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398678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thickness, A = triangle area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D4500A"/>
          </a:solidFill>
          <a:ln w="12700">
            <a:solidFill>
              <a:srgbClr val="D45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FLOWCHART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7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 Heat Transfer Solver — Step-by-Step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0" y="868680"/>
            <a:ext cx="6400800" cy="384048"/>
          </a:xfrm>
          <a:prstGeom prst="roundRect">
            <a:avLst>
              <a:gd name="adj" fmla="val 28571"/>
            </a:avLst>
          </a:prstGeom>
          <a:solidFill>
            <a:srgbClr val="E87D1E"/>
          </a:solidFill>
          <a:ln w="12700">
            <a:solidFill>
              <a:srgbClr val="E87D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08760" y="905256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0" y="1252728"/>
            <a:ext cx="0" cy="91440"/>
          </a:xfrm>
          <a:prstGeom prst="line">
            <a:avLst/>
          </a:prstGeom>
          <a:noFill/>
          <a:ln w="25400">
            <a:solidFill>
              <a:srgbClr val="E87D1E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371600" y="1371600"/>
            <a:ext cx="6400800" cy="384048"/>
          </a:xfrm>
          <a:prstGeom prst="rect">
            <a:avLst/>
          </a:prstGeom>
          <a:solidFill>
            <a:srgbClr val="1A3A1A"/>
          </a:solidFill>
          <a:ln w="12700">
            <a:solidFill>
              <a:srgbClr val="E87D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08760" y="1408176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Input Parameters (k, h, t, T_boundary, Blocks)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0" y="1755648"/>
            <a:ext cx="0" cy="91440"/>
          </a:xfrm>
          <a:prstGeom prst="line">
            <a:avLst/>
          </a:prstGeom>
          <a:noFill/>
          <a:ln w="25400">
            <a:solidFill>
              <a:srgbClr val="E87D1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371600" y="1847088"/>
            <a:ext cx="6400800" cy="384048"/>
          </a:xfrm>
          <a:prstGeom prst="rect">
            <a:avLst/>
          </a:prstGeom>
          <a:solidFill>
            <a:srgbClr val="1A2A3A"/>
          </a:solidFill>
          <a:ln w="12700">
            <a:solidFill>
              <a:srgbClr val="E87D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08760" y="1883664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Generate T3 Mesh (geom + conodesc)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0" y="2231136"/>
            <a:ext cx="0" cy="91440"/>
          </a:xfrm>
          <a:prstGeom prst="line">
            <a:avLst/>
          </a:prstGeom>
          <a:noFill/>
          <a:ln w="25400">
            <a:solidFill>
              <a:srgbClr val="E87D1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371600" y="2322576"/>
            <a:ext cx="6400800" cy="384048"/>
          </a:xfrm>
          <a:prstGeom prst="rect">
            <a:avLst/>
          </a:prstGeom>
          <a:solidFill>
            <a:srgbClr val="1A2A3A"/>
          </a:solidFill>
          <a:ln w="12700">
            <a:solidFill>
              <a:srgbClr val="E87D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08760" y="235915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Identify Boundary Conditions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0" y="2706624"/>
            <a:ext cx="0" cy="91440"/>
          </a:xfrm>
          <a:prstGeom prst="line">
            <a:avLst/>
          </a:prstGeom>
          <a:noFill/>
          <a:ln w="25400">
            <a:solidFill>
              <a:srgbClr val="E87D1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371600" y="2798064"/>
            <a:ext cx="6400800" cy="384048"/>
          </a:xfrm>
          <a:prstGeom prst="rect">
            <a:avLst/>
          </a:prstGeom>
          <a:solidFill>
            <a:srgbClr val="2A1A0A"/>
          </a:solidFill>
          <a:ln w="12700">
            <a:solidFill>
              <a:srgbClr val="E87D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08760" y="2834640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Compute Material Matrix [D]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0" y="3182112"/>
            <a:ext cx="0" cy="91440"/>
          </a:xfrm>
          <a:prstGeom prst="line">
            <a:avLst/>
          </a:prstGeom>
          <a:noFill/>
          <a:ln w="25400">
            <a:solidFill>
              <a:srgbClr val="E87D1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371600" y="3273552"/>
            <a:ext cx="6400800" cy="384048"/>
          </a:xfrm>
          <a:prstGeom prst="rect">
            <a:avLst/>
          </a:prstGeom>
          <a:solidFill>
            <a:srgbClr val="2A1A0A"/>
          </a:solidFill>
          <a:ln w="12700">
            <a:solidFill>
              <a:srgbClr val="E87D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08760" y="3310128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Element Loop: Compute [B], Area, Kc, Kh, fe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0" y="3657600"/>
            <a:ext cx="0" cy="91440"/>
          </a:xfrm>
          <a:prstGeom prst="line">
            <a:avLst/>
          </a:prstGeom>
          <a:noFill/>
          <a:ln w="25400">
            <a:solidFill>
              <a:srgbClr val="E87D1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371600" y="3749040"/>
            <a:ext cx="6400800" cy="384048"/>
          </a:xfrm>
          <a:prstGeom prst="rect">
            <a:avLst/>
          </a:prstGeom>
          <a:solidFill>
            <a:srgbClr val="2A0A0A"/>
          </a:solidFill>
          <a:ln w="12700">
            <a:solidFill>
              <a:srgbClr val="E87D1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08760" y="3785616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Assemble Global [KK] and {fg}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0" y="4133088"/>
            <a:ext cx="0" cy="91440"/>
          </a:xfrm>
          <a:prstGeom prst="line">
            <a:avLst/>
          </a:prstGeom>
          <a:noFill/>
          <a:ln w="25400">
            <a:solidFill>
              <a:srgbClr val="E87D1E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371600" y="4224528"/>
            <a:ext cx="6400800" cy="384048"/>
          </a:xfrm>
          <a:prstGeom prst="rect">
            <a:avLst/>
          </a:prstGeom>
          <a:solidFill>
            <a:srgbClr val="2A0A0A"/>
          </a:solidFill>
          <a:ln w="12700">
            <a:solidFill>
              <a:srgbClr val="E87D1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08760" y="4261104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Apply Dirichlet BCs &amp; Solve: {T} = [KK]\{fg}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0" y="4608576"/>
            <a:ext cx="0" cy="91440"/>
          </a:xfrm>
          <a:prstGeom prst="line">
            <a:avLst/>
          </a:prstGeom>
          <a:noFill/>
          <a:ln w="25400">
            <a:solidFill>
              <a:srgbClr val="E87D1E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371600" y="4700016"/>
            <a:ext cx="6400800" cy="384048"/>
          </a:xfrm>
          <a:prstGeom prst="roundRect">
            <a:avLst>
              <a:gd name="adj" fmla="val 28571"/>
            </a:avLst>
          </a:prstGeom>
          <a:solidFill>
            <a:srgbClr val="D4500A"/>
          </a:solidFill>
          <a:ln w="12700">
            <a:solidFill>
              <a:srgbClr val="E87D1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08760" y="473659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Plot Temperature Distribution + END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001000" y="321868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CONVECTION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CHECK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(Step 5)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772400" y="3465576"/>
            <a:ext cx="228600" cy="0"/>
          </a:xfrm>
          <a:prstGeom prst="line">
            <a:avLst/>
          </a:prstGeom>
          <a:noFill/>
          <a:ln w="19050">
            <a:solidFill>
              <a:srgbClr val="F5C842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D4500A"/>
          </a:solidFill>
          <a:ln w="12700">
            <a:solidFill>
              <a:srgbClr val="D45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7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 Solver Pipeline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554480"/>
            <a:ext cx="1097280" cy="1280160"/>
          </a:xfrm>
          <a:prstGeom prst="roundRect">
            <a:avLst>
              <a:gd name="adj" fmla="val 8333"/>
            </a:avLst>
          </a:prstGeom>
          <a:solidFill>
            <a:srgbClr val="D4500A"/>
          </a:solidFill>
          <a:ln w="12700">
            <a:solidFill>
              <a:srgbClr val="E87D1E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62763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205740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17320" y="2194560"/>
            <a:ext cx="146304" cy="0"/>
          </a:xfrm>
          <a:prstGeom prst="line">
            <a:avLst/>
          </a:prstGeom>
          <a:noFill/>
          <a:ln w="38100">
            <a:solidFill>
              <a:srgbClr val="F5C84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563624" y="1554480"/>
            <a:ext cx="1097280" cy="1280160"/>
          </a:xfrm>
          <a:prstGeom prst="roundRect">
            <a:avLst>
              <a:gd name="adj" fmla="val 8333"/>
            </a:avLst>
          </a:prstGeom>
          <a:solidFill>
            <a:srgbClr val="225522"/>
          </a:solidFill>
          <a:ln w="12700">
            <a:solidFill>
              <a:srgbClr val="E87D1E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63624" y="162763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🔲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09344" y="205740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60904" y="2194560"/>
            <a:ext cx="146304" cy="0"/>
          </a:xfrm>
          <a:prstGeom prst="line">
            <a:avLst/>
          </a:prstGeom>
          <a:noFill/>
          <a:ln w="38100">
            <a:solidFill>
              <a:srgbClr val="F5C84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807208" y="1554480"/>
            <a:ext cx="1097280" cy="1280160"/>
          </a:xfrm>
          <a:prstGeom prst="roundRect">
            <a:avLst>
              <a:gd name="adj" fmla="val 8333"/>
            </a:avLst>
          </a:prstGeom>
          <a:solidFill>
            <a:srgbClr val="1A2A4A"/>
          </a:solidFill>
          <a:ln w="12700">
            <a:solidFill>
              <a:srgbClr val="E87D1E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807208" y="162763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852928" y="205740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904488" y="2194560"/>
            <a:ext cx="146304" cy="0"/>
          </a:xfrm>
          <a:prstGeom prst="line">
            <a:avLst/>
          </a:prstGeom>
          <a:noFill/>
          <a:ln w="38100">
            <a:solidFill>
              <a:srgbClr val="F5C84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050792" y="1554480"/>
            <a:ext cx="1097280" cy="1280160"/>
          </a:xfrm>
          <a:prstGeom prst="roundRect">
            <a:avLst>
              <a:gd name="adj" fmla="val 8333"/>
            </a:avLst>
          </a:prstGeom>
          <a:solidFill>
            <a:srgbClr val="3A1A4A"/>
          </a:solidFill>
          <a:ln w="12700">
            <a:solidFill>
              <a:srgbClr val="E87D1E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050792" y="162763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096512" y="205740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148072" y="2194560"/>
            <a:ext cx="146304" cy="0"/>
          </a:xfrm>
          <a:prstGeom prst="line">
            <a:avLst/>
          </a:prstGeom>
          <a:noFill/>
          <a:ln w="38100">
            <a:solidFill>
              <a:srgbClr val="F5C84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294376" y="1554480"/>
            <a:ext cx="1097280" cy="1280160"/>
          </a:xfrm>
          <a:prstGeom prst="roundRect">
            <a:avLst>
              <a:gd name="adj" fmla="val 8333"/>
            </a:avLst>
          </a:prstGeom>
          <a:solidFill>
            <a:srgbClr val="4A1A1A"/>
          </a:solidFill>
          <a:ln w="12700">
            <a:solidFill>
              <a:srgbClr val="E87D1E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294376" y="162763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340096" y="205740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91656" y="2194560"/>
            <a:ext cx="146304" cy="0"/>
          </a:xfrm>
          <a:prstGeom prst="line">
            <a:avLst/>
          </a:prstGeom>
          <a:noFill/>
          <a:ln w="38100">
            <a:solidFill>
              <a:srgbClr val="F5C842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537960" y="1554480"/>
            <a:ext cx="1097280" cy="1280160"/>
          </a:xfrm>
          <a:prstGeom prst="roundRect">
            <a:avLst>
              <a:gd name="adj" fmla="val 8333"/>
            </a:avLst>
          </a:prstGeom>
          <a:solidFill>
            <a:srgbClr val="1A3A3A"/>
          </a:solidFill>
          <a:ln w="12700">
            <a:solidFill>
              <a:srgbClr val="E87D1E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37960" y="162763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➗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583680" y="205740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635240" y="2194560"/>
            <a:ext cx="146304" cy="0"/>
          </a:xfrm>
          <a:prstGeom prst="line">
            <a:avLst/>
          </a:prstGeom>
          <a:noFill/>
          <a:ln w="38100">
            <a:solidFill>
              <a:srgbClr val="F5C842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781544" y="1554480"/>
            <a:ext cx="1097280" cy="1280160"/>
          </a:xfrm>
          <a:prstGeom prst="roundRect">
            <a:avLst>
              <a:gd name="adj" fmla="val 8333"/>
            </a:avLst>
          </a:prstGeom>
          <a:solidFill>
            <a:srgbClr val="1565C0"/>
          </a:solidFill>
          <a:ln w="12700">
            <a:solidFill>
              <a:srgbClr val="E87D1E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781544" y="162763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827264" y="205740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VISUALIZ-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2971800"/>
            <a:ext cx="1097280" cy="1783080"/>
          </a:xfrm>
          <a:prstGeom prst="rect">
            <a:avLst/>
          </a:prstGeom>
          <a:solidFill>
            <a:srgbClr val="2E1505"/>
          </a:solidFill>
          <a:ln w="12700">
            <a:solidFill>
              <a:srgbClr val="D4500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4904" y="299923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7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 array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74904" y="3364992"/>
            <a:ext cx="1005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coordinates (nnd×2)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563624" y="2971800"/>
            <a:ext cx="1097280" cy="1783080"/>
          </a:xfrm>
          <a:prstGeom prst="rect">
            <a:avLst/>
          </a:prstGeom>
          <a:solidFill>
            <a:srgbClr val="2E1505"/>
          </a:solidFill>
          <a:ln w="12700">
            <a:solidFill>
              <a:srgbClr val="D4500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18488" y="299923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7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conodesc array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618488" y="3364992"/>
            <a:ext cx="1005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Element-node connectivity (nel×3)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807208" y="2971800"/>
            <a:ext cx="1097280" cy="1783080"/>
          </a:xfrm>
          <a:prstGeom prst="rect">
            <a:avLst/>
          </a:prstGeom>
          <a:solidFill>
            <a:srgbClr val="2E1505"/>
          </a:solidFill>
          <a:ln w="12700">
            <a:solidFill>
              <a:srgbClr val="D4500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62072" y="299923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7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[B], [D] matrices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862072" y="3364992"/>
            <a:ext cx="1005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gradients &amp; material property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050792" y="2971800"/>
            <a:ext cx="1097280" cy="1783080"/>
          </a:xfrm>
          <a:prstGeom prst="rect">
            <a:avLst/>
          </a:prstGeom>
          <a:solidFill>
            <a:srgbClr val="2E1505"/>
          </a:solidFill>
          <a:ln w="12700">
            <a:solidFill>
              <a:srgbClr val="D4500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05656" y="299923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7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[KK], {fg}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105656" y="3364992"/>
            <a:ext cx="1005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stiffness &amp; force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294376" y="2971800"/>
            <a:ext cx="1097280" cy="1783080"/>
          </a:xfrm>
          <a:prstGeom prst="rect">
            <a:avLst/>
          </a:prstGeom>
          <a:solidFill>
            <a:srgbClr val="2E1505"/>
          </a:solidFill>
          <a:ln w="12700">
            <a:solidFill>
              <a:srgbClr val="D4500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49240" y="299923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7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 / convect flags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349240" y="3364992"/>
            <a:ext cx="1005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DOF numbering &amp; edge detection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537960" y="2971800"/>
            <a:ext cx="1097280" cy="1783080"/>
          </a:xfrm>
          <a:prstGeom prst="rect">
            <a:avLst/>
          </a:prstGeom>
          <a:solidFill>
            <a:srgbClr val="2E1505"/>
          </a:solidFill>
          <a:ln w="12700">
            <a:solidFill>
              <a:srgbClr val="D4500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92824" y="299923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7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patch() plot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592824" y="3364992"/>
            <a:ext cx="1005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Color-interpolated temperature map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781544" y="2971800"/>
            <a:ext cx="1097280" cy="1783080"/>
          </a:xfrm>
          <a:prstGeom prst="rect">
            <a:avLst/>
          </a:prstGeom>
          <a:solidFill>
            <a:srgbClr val="2E1505"/>
          </a:solidFill>
          <a:ln w="12700">
            <a:solidFill>
              <a:srgbClr val="D4500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36408" y="299923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7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backslash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836408" y="3364992"/>
            <a:ext cx="1005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{T} = [KK]\{fg} — LU decomposition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D4500A"/>
          </a:solidFill>
          <a:ln w="12700">
            <a:solidFill>
              <a:srgbClr val="D45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— STEP 1 &amp;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7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Handling &amp; Mesh Generation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868680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7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Input Handling (GUI Variables)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4297680" cy="1371600"/>
          </a:xfrm>
          <a:prstGeom prst="rect">
            <a:avLst/>
          </a:prstGeom>
          <a:solidFill>
            <a:srgbClr val="0D0D0D"/>
          </a:solidFill>
          <a:ln w="12700">
            <a:solidFill>
              <a:srgbClr val="E87D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280160"/>
            <a:ext cx="4078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= app.ThermalConductivityEditField.Value;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app.HeatConvectionCoefficientEditField.Value;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thick = app.ThicknessinmmEditField.Value;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 = app.NumberofBlocksEnterbetween1to4EditField.Value;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InitialBoundedTemp = app.BoundedTemperatureInitialEditField.Value;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754880" y="1188720"/>
            <a:ext cx="4069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reads: k, h, thickness, T_boundary, Blocks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DOF = 1 per node (temperature)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constants: a = 70/7 mm (fixed step size)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697480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7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Mesh Generation (T3 Elements)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3017520"/>
            <a:ext cx="4297680" cy="1691640"/>
          </a:xfrm>
          <a:prstGeom prst="rect">
            <a:avLst/>
          </a:prstGeom>
          <a:solidFill>
            <a:srgbClr val="0D0D0D"/>
          </a:solidFill>
          <a:ln w="12700">
            <a:solidFill>
              <a:srgbClr val="E87D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3108960"/>
            <a:ext cx="407822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T3_mesh_final_term_axisymmetric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Output arrays: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  geom    (nnd × 2) — node coordinates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  conodesc (nel × 3) — element connectivity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Each quad cell → 4 T3 triangles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Center node added at cell midpoint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54880" y="3017520"/>
            <a:ext cx="4069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rectangular block divided into quadrilateral cells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quad → 4 T3 triangles via center node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geom: stores (x, y) of every node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conodesc: 3 node indices per element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shared at block interfaces — no duplication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D4500A"/>
          </a:solidFill>
          <a:ln w="12700">
            <a:solidFill>
              <a:srgbClr val="D45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— STEP 3 &amp; 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7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Identification &amp; Material Matrix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868680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7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Boundary Identification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4297680" cy="1600200"/>
          </a:xfrm>
          <a:prstGeom prst="rect">
            <a:avLst/>
          </a:prstGeom>
          <a:solidFill>
            <a:srgbClr val="0D0D0D"/>
          </a:solidFill>
          <a:ln w="12700">
            <a:solidFill>
              <a:srgbClr val="E87D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280160"/>
            <a:ext cx="40782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Dirichlet: nodes at x = 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geom(i,1) == 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Nodal_loads(i,1) = InitialBoundedTemp;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Convection edges: x=70, y=0/70, steps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all(geom(conodesc(i,[j k(j)]),1) == 70)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convect(i,j) = 1;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754880" y="1188720"/>
            <a:ext cx="4069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Dirichlet: nodes where x = 0 get fixed temperature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Convective edges detected by coordinate checks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Convect flag = 1 for exposed boundary edges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Robin BC applied on: x=70, y=0/70, step faces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907792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7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Material Matrix [D]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3246120"/>
            <a:ext cx="4297680" cy="914400"/>
          </a:xfrm>
          <a:prstGeom prst="rect">
            <a:avLst/>
          </a:prstGeom>
          <a:solidFill>
            <a:srgbClr val="0D0D0D"/>
          </a:solidFill>
          <a:ln w="12700">
            <a:solidFill>
              <a:srgbClr val="E87D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3337560"/>
            <a:ext cx="4078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 = [ThermalConductivity  0;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0  ThermalConductivity];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Isotropic: kxx = kyy = k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54880" y="3246120"/>
            <a:ext cx="4069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Isotropic material: equal conductivity in x and 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 diagonal matrix — simple and efficient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User-specified k from GUI drives both diagonal entries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 Kc = t · A · [B]ᵀ [D] [B]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D4500A"/>
          </a:solidFill>
          <a:ln w="12700">
            <a:solidFill>
              <a:srgbClr val="D45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— STEP 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7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Matrix Calculation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868680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7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[B] Matrix, Area &amp; Stiffness Matrices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207008"/>
            <a:ext cx="5120640" cy="2377440"/>
          </a:xfrm>
          <a:prstGeom prst="rect">
            <a:avLst/>
          </a:prstGeom>
          <a:solidFill>
            <a:srgbClr val="0D0D0D"/>
          </a:solidFill>
          <a:ln w="12700">
            <a:solidFill>
              <a:srgbClr val="E87D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298448"/>
            <a:ext cx="490118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0.5*det([1 x1 y1; 1 x2 y2; 1 x3 y3]);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Shape function gradient coefficients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b1=(y2-y3)/(2A); b2=(y3-y1)/(2A); b3=(y1-y2)/(2A);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c1=(x3-x2)/(2A); c2=(x1-x3)/(2A); c3=(x2-x1)/(2A);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[B] matrix (2×3)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bee = [b1 b2 b3; c1 c2 c3];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Conduction matrix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kc = thick * A * bee' * dee * bee;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Convection matrix (for boundary edges)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kh = thick * h * cee;   % cee from edge lengths L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 = kc + kh;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577840" y="1207008"/>
            <a:ext cx="3246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A computed via determinant of nodal coordinates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matrix: constant gradient — key FEM advantage for T3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 = t·A·[B]ᵀ[D][B] — conduction stiffness matrix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Convection matrix Kh adds hL/6·[2 1;1 2] per exposed edge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element stiffness: Ke = Kc + Kh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vector: fe = h·T∞·L/2·[1;1] per convection edge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3703320"/>
            <a:ext cx="8503920" cy="1115568"/>
          </a:xfrm>
          <a:prstGeom prst="rect">
            <a:avLst/>
          </a:prstGeom>
          <a:solidFill>
            <a:srgbClr val="2E1505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FEM Equations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0416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Kc = t·A·[B]ᵀ[D][B]     Kh = h·L·t/6·[2 1; 1 2]     fe = h·T∞·L·t/2·{1;1}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7D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T(x,y) = N₁T₁ + N₂T₂ + N₃T₃     Nᵢ = (aᵢ + bᵢx + cᵢy) / 2A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D4500A"/>
          </a:solidFill>
          <a:ln w="12700">
            <a:solidFill>
              <a:srgbClr val="D45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— STEP 6, 7 &amp; 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7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Assembly, Boundary Conditions &amp; Solving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868680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7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– 7: Global Assembly &amp; Dirichlet BCs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207008"/>
            <a:ext cx="4297680" cy="1828800"/>
          </a:xfrm>
          <a:prstGeom prst="rect">
            <a:avLst/>
          </a:prstGeom>
          <a:solidFill>
            <a:srgbClr val="0D0D0D"/>
          </a:solidFill>
          <a:ln w="12700">
            <a:solidFill>
              <a:srgbClr val="E87D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298448"/>
            <a:ext cx="40782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Assemble element into global KK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kk = form_kk(kk, ke, g);  % steering vector 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fg = form_fg(fg, fe, g);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Enforce Dirichlet: subtract fixed contributions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fg(i) = fg(i) - sum(kk(i,idT)*Nodal_loads(idT));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Zero rows/cols of fixed DOFs, set diagonal=1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kk(idT,:) = 0; kk(:,idT) = 0;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kk(idT(i),idT(i)) = 1;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fg(idT) = Nodal_loads(idT); % set known 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754880" y="1207008"/>
            <a:ext cx="4069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vector g maps local DOFs to global positions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form_kk and form_fg functions loop over element DOFs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Dirichlet BC: row/col zeroed, diagonal = 1, RHS = T_boundary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fixed nodes retain prescribed temperature exactly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3154680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7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8: Solve &amp; Visualize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3493008"/>
            <a:ext cx="4297680" cy="1234440"/>
          </a:xfrm>
          <a:prstGeom prst="rect">
            <a:avLst/>
          </a:prstGeom>
          <a:solidFill>
            <a:srgbClr val="0D0D0D"/>
          </a:solidFill>
          <a:ln w="12700">
            <a:solidFill>
              <a:srgbClr val="E87D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3584448"/>
            <a:ext cx="4078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MATLAB backslash = LU decomposition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tg = kk \ fg;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Patch plot with color interpolation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patch('Faces',conodesc,'Vertices',geom,...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'FaceVertexCData',tg,'FaceColor','interp');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colorbar;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54880" y="3493008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\ operator: efficient LU factorization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tg: temperature at all free nodes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patch() renders each triangle colored by temperature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colorbar shows temperature scale in °C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D4500A"/>
          </a:solidFill>
          <a:ln w="12700">
            <a:solidFill>
              <a:srgbClr val="D45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OVERVIEW</a:t>
            </a:r>
            <a:r>
              <a:rPr lang="en-US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MATLAB App Designer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7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App Designer Interface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14400"/>
          <a:ext cx="5029200" cy="29260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50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50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50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0CD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Thermal Conductivity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50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0CD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50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0CD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 heat conduction [W/m·K]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0CD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 Convection Coeff.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50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0CD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50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0CD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Surface-to-fluid heat transfer [W/m²·K]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0CD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Thickness (mm)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50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0CD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50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0CD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Out-of-plane domain thickness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0CD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Boundary Temperature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50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0CD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T_b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50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0CD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temperature at x=0 [°C]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0CD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Blocks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50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0CD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50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0CD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L-domain complexity (1–4)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50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Shape 32">
            <a:extLst>
              <a:ext uri="{FF2B5EF4-FFF2-40B4-BE49-F238E27FC236}">
                <a16:creationId xmlns:a16="http://schemas.microsoft.com/office/drawing/2014/main" id="{870B6BB0-E24B-87E8-2D13-461C4ED86F92}"/>
              </a:ext>
            </a:extLst>
          </p:cNvPr>
          <p:cNvSpPr/>
          <p:nvPr/>
        </p:nvSpPr>
        <p:spPr>
          <a:xfrm>
            <a:off x="5783580" y="544068"/>
            <a:ext cx="2971800" cy="27432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solidFill>
              <a:schemeClr val="accent2">
                <a:lumMod val="75000"/>
              </a:schemeClr>
            </a:solidFill>
            <a:prstDash val="solid"/>
          </a:ln>
        </p:spPr>
      </p:sp>
      <p:sp>
        <p:nvSpPr>
          <p:cNvPr id="17" name="Text 33">
            <a:extLst>
              <a:ext uri="{FF2B5EF4-FFF2-40B4-BE49-F238E27FC236}">
                <a16:creationId xmlns:a16="http://schemas.microsoft.com/office/drawing/2014/main" id="{ED2695F9-7D14-9282-F984-8471147FDA26}"/>
              </a:ext>
            </a:extLst>
          </p:cNvPr>
          <p:cNvSpPr/>
          <p:nvPr/>
        </p:nvSpPr>
        <p:spPr>
          <a:xfrm>
            <a:off x="5783580" y="5440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Features</a:t>
            </a:r>
            <a:endParaRPr lang="en-US" sz="1200" dirty="0"/>
          </a:p>
        </p:txBody>
      </p:sp>
      <p:sp>
        <p:nvSpPr>
          <p:cNvPr id="18" name="Shape 34">
            <a:extLst>
              <a:ext uri="{FF2B5EF4-FFF2-40B4-BE49-F238E27FC236}">
                <a16:creationId xmlns:a16="http://schemas.microsoft.com/office/drawing/2014/main" id="{2AA08D4C-1F7C-5783-9703-0A933F4959D2}"/>
              </a:ext>
            </a:extLst>
          </p:cNvPr>
          <p:cNvSpPr/>
          <p:nvPr/>
        </p:nvSpPr>
        <p:spPr>
          <a:xfrm>
            <a:off x="5783580" y="845820"/>
            <a:ext cx="2971800" cy="530352"/>
          </a:xfrm>
          <a:prstGeom prst="rect">
            <a:avLst/>
          </a:prstGeom>
          <a:solidFill>
            <a:srgbClr val="1E1E32"/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</p:sp>
      <p:sp>
        <p:nvSpPr>
          <p:cNvPr id="19" name="Text 35">
            <a:extLst>
              <a:ext uri="{FF2B5EF4-FFF2-40B4-BE49-F238E27FC236}">
                <a16:creationId xmlns:a16="http://schemas.microsoft.com/office/drawing/2014/main" id="{40BAB82F-D6F0-26CC-0950-28A3278BD1BA}"/>
              </a:ext>
            </a:extLst>
          </p:cNvPr>
          <p:cNvSpPr/>
          <p:nvPr/>
        </p:nvSpPr>
        <p:spPr>
          <a:xfrm>
            <a:off x="5875020" y="873252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Plot</a:t>
            </a:r>
            <a:endParaRPr lang="en-US" sz="1050" dirty="0"/>
          </a:p>
        </p:txBody>
      </p:sp>
      <p:sp>
        <p:nvSpPr>
          <p:cNvPr id="20" name="Text 36">
            <a:extLst>
              <a:ext uri="{FF2B5EF4-FFF2-40B4-BE49-F238E27FC236}">
                <a16:creationId xmlns:a16="http://schemas.microsoft.com/office/drawing/2014/main" id="{91E344FF-4A73-09FC-90BE-C9E283CC313F}"/>
              </a:ext>
            </a:extLst>
          </p:cNvPr>
          <p:cNvSpPr/>
          <p:nvPr/>
        </p:nvSpPr>
        <p:spPr>
          <a:xfrm>
            <a:off x="5875020" y="10744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DE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main FEM solver with current GUI inputs</a:t>
            </a:r>
            <a:endParaRPr lang="en-US" sz="1000" dirty="0"/>
          </a:p>
        </p:txBody>
      </p:sp>
      <p:sp>
        <p:nvSpPr>
          <p:cNvPr id="21" name="Shape 37">
            <a:extLst>
              <a:ext uri="{FF2B5EF4-FFF2-40B4-BE49-F238E27FC236}">
                <a16:creationId xmlns:a16="http://schemas.microsoft.com/office/drawing/2014/main" id="{7458EBF5-C6A7-2A5E-AE58-71E541584AF4}"/>
              </a:ext>
            </a:extLst>
          </p:cNvPr>
          <p:cNvSpPr/>
          <p:nvPr/>
        </p:nvSpPr>
        <p:spPr>
          <a:xfrm>
            <a:off x="5783580" y="1426464"/>
            <a:ext cx="2971800" cy="594360"/>
          </a:xfrm>
          <a:prstGeom prst="rect">
            <a:avLst/>
          </a:prstGeom>
          <a:solidFill>
            <a:srgbClr val="1E1E32"/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</p:sp>
      <p:sp>
        <p:nvSpPr>
          <p:cNvPr id="22" name="Text 38">
            <a:extLst>
              <a:ext uri="{FF2B5EF4-FFF2-40B4-BE49-F238E27FC236}">
                <a16:creationId xmlns:a16="http://schemas.microsoft.com/office/drawing/2014/main" id="{317DA7C9-A6DC-28FD-C87D-9A2590131EE3}"/>
              </a:ext>
            </a:extLst>
          </p:cNvPr>
          <p:cNvSpPr/>
          <p:nvPr/>
        </p:nvSpPr>
        <p:spPr>
          <a:xfrm>
            <a:off x="5875020" y="1487746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Application</a:t>
            </a:r>
            <a:endParaRPr lang="en-US" sz="1050" dirty="0"/>
          </a:p>
        </p:txBody>
      </p:sp>
      <p:sp>
        <p:nvSpPr>
          <p:cNvPr id="23" name="Text 39">
            <a:extLst>
              <a:ext uri="{FF2B5EF4-FFF2-40B4-BE49-F238E27FC236}">
                <a16:creationId xmlns:a16="http://schemas.microsoft.com/office/drawing/2014/main" id="{8353C512-B61E-F507-A4FC-8B2B36E0AC68}"/>
              </a:ext>
            </a:extLst>
          </p:cNvPr>
          <p:cNvSpPr/>
          <p:nvPr/>
        </p:nvSpPr>
        <p:spPr>
          <a:xfrm>
            <a:off x="5875020" y="1711071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DE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real-world scenario (CPU / Building)</a:t>
            </a:r>
            <a:endParaRPr lang="en-US" sz="1000" dirty="0"/>
          </a:p>
        </p:txBody>
      </p:sp>
      <p:sp>
        <p:nvSpPr>
          <p:cNvPr id="24" name="Shape 40">
            <a:extLst>
              <a:ext uri="{FF2B5EF4-FFF2-40B4-BE49-F238E27FC236}">
                <a16:creationId xmlns:a16="http://schemas.microsoft.com/office/drawing/2014/main" id="{4237B486-EC56-68C1-5FF4-E1550F58D08D}"/>
              </a:ext>
            </a:extLst>
          </p:cNvPr>
          <p:cNvSpPr/>
          <p:nvPr/>
        </p:nvSpPr>
        <p:spPr>
          <a:xfrm>
            <a:off x="5783580" y="2071116"/>
            <a:ext cx="2971800" cy="594360"/>
          </a:xfrm>
          <a:prstGeom prst="rect">
            <a:avLst/>
          </a:prstGeom>
          <a:solidFill>
            <a:srgbClr val="1E1E32"/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</p:sp>
      <p:sp>
        <p:nvSpPr>
          <p:cNvPr id="25" name="Text 41">
            <a:extLst>
              <a:ext uri="{FF2B5EF4-FFF2-40B4-BE49-F238E27FC236}">
                <a16:creationId xmlns:a16="http://schemas.microsoft.com/office/drawing/2014/main" id="{BA14C97D-4F9F-9A34-4D86-011D63BD112A}"/>
              </a:ext>
            </a:extLst>
          </p:cNvPr>
          <p:cNvSpPr/>
          <p:nvPr/>
        </p:nvSpPr>
        <p:spPr>
          <a:xfrm>
            <a:off x="5875020" y="2138289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Dropdown</a:t>
            </a:r>
            <a:endParaRPr lang="en-US" sz="1050" dirty="0"/>
          </a:p>
        </p:txBody>
      </p:sp>
      <p:sp>
        <p:nvSpPr>
          <p:cNvPr id="26" name="Text 42">
            <a:extLst>
              <a:ext uri="{FF2B5EF4-FFF2-40B4-BE49-F238E27FC236}">
                <a16:creationId xmlns:a16="http://schemas.microsoft.com/office/drawing/2014/main" id="{4DFBA885-0879-BA0C-5464-080FF98BFBCD}"/>
              </a:ext>
            </a:extLst>
          </p:cNvPr>
          <p:cNvSpPr/>
          <p:nvPr/>
        </p:nvSpPr>
        <p:spPr>
          <a:xfrm>
            <a:off x="5875020" y="2376385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DE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Electronic Cooling or Building Wall</a:t>
            </a:r>
            <a:endParaRPr lang="en-US" sz="1000" dirty="0"/>
          </a:p>
        </p:txBody>
      </p:sp>
      <p:sp>
        <p:nvSpPr>
          <p:cNvPr id="27" name="Shape 43">
            <a:extLst>
              <a:ext uri="{FF2B5EF4-FFF2-40B4-BE49-F238E27FC236}">
                <a16:creationId xmlns:a16="http://schemas.microsoft.com/office/drawing/2014/main" id="{8ED61FED-6BE2-F83B-C3E7-342F452FF244}"/>
              </a:ext>
            </a:extLst>
          </p:cNvPr>
          <p:cNvSpPr/>
          <p:nvPr/>
        </p:nvSpPr>
        <p:spPr>
          <a:xfrm>
            <a:off x="5783580" y="2713658"/>
            <a:ext cx="2971800" cy="594360"/>
          </a:xfrm>
          <a:prstGeom prst="rect">
            <a:avLst/>
          </a:prstGeom>
          <a:solidFill>
            <a:srgbClr val="1E1E32"/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Text 44">
            <a:extLst>
              <a:ext uri="{FF2B5EF4-FFF2-40B4-BE49-F238E27FC236}">
                <a16:creationId xmlns:a16="http://schemas.microsoft.com/office/drawing/2014/main" id="{D2B9639C-C011-8D66-FFD6-C7F7E23BE2DD}"/>
              </a:ext>
            </a:extLst>
          </p:cNvPr>
          <p:cNvSpPr/>
          <p:nvPr/>
        </p:nvSpPr>
        <p:spPr>
          <a:xfrm>
            <a:off x="5875020" y="2785051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Label</a:t>
            </a:r>
            <a:endParaRPr lang="en-US" sz="1050" dirty="0"/>
          </a:p>
        </p:txBody>
      </p:sp>
      <p:sp>
        <p:nvSpPr>
          <p:cNvPr id="29" name="Text 45">
            <a:extLst>
              <a:ext uri="{FF2B5EF4-FFF2-40B4-BE49-F238E27FC236}">
                <a16:creationId xmlns:a16="http://schemas.microsoft.com/office/drawing/2014/main" id="{6EB72856-6E98-A600-61F6-CD400813C55B}"/>
              </a:ext>
            </a:extLst>
          </p:cNvPr>
          <p:cNvSpPr/>
          <p:nvPr/>
        </p:nvSpPr>
        <p:spPr>
          <a:xfrm>
            <a:off x="5875020" y="3006969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DE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scenario parameters after execution</a:t>
            </a:r>
            <a:endParaRPr lang="en-US" sz="1000" dirty="0"/>
          </a:p>
        </p:txBody>
      </p:sp>
      <p:sp>
        <p:nvSpPr>
          <p:cNvPr id="30" name="Shape 46">
            <a:extLst>
              <a:ext uri="{FF2B5EF4-FFF2-40B4-BE49-F238E27FC236}">
                <a16:creationId xmlns:a16="http://schemas.microsoft.com/office/drawing/2014/main" id="{6968FEC9-F3DE-748A-615E-3DDB6648B7EA}"/>
              </a:ext>
            </a:extLst>
          </p:cNvPr>
          <p:cNvSpPr/>
          <p:nvPr/>
        </p:nvSpPr>
        <p:spPr>
          <a:xfrm>
            <a:off x="5783580" y="3345649"/>
            <a:ext cx="2971800" cy="594360"/>
          </a:xfrm>
          <a:prstGeom prst="rect">
            <a:avLst/>
          </a:prstGeom>
          <a:solidFill>
            <a:srgbClr val="1E1E32"/>
          </a:solidFill>
          <a:ln w="9525">
            <a:solidFill>
              <a:schemeClr val="accent2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Text 47">
            <a:extLst>
              <a:ext uri="{FF2B5EF4-FFF2-40B4-BE49-F238E27FC236}">
                <a16:creationId xmlns:a16="http://schemas.microsoft.com/office/drawing/2014/main" id="{5C763695-2B84-822A-68BD-558D5DFEB153}"/>
              </a:ext>
            </a:extLst>
          </p:cNvPr>
          <p:cNvSpPr/>
          <p:nvPr/>
        </p:nvSpPr>
        <p:spPr>
          <a:xfrm>
            <a:off x="5875020" y="3414229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Mesh</a:t>
            </a:r>
            <a:endParaRPr lang="en-US" sz="1050" dirty="0"/>
          </a:p>
        </p:txBody>
      </p:sp>
      <p:sp>
        <p:nvSpPr>
          <p:cNvPr id="32" name="Text 48">
            <a:extLst>
              <a:ext uri="{FF2B5EF4-FFF2-40B4-BE49-F238E27FC236}">
                <a16:creationId xmlns:a16="http://schemas.microsoft.com/office/drawing/2014/main" id="{A62A8637-159E-0A16-0773-4B70B5498CE0}"/>
              </a:ext>
            </a:extLst>
          </p:cNvPr>
          <p:cNvSpPr/>
          <p:nvPr/>
        </p:nvSpPr>
        <p:spPr>
          <a:xfrm>
            <a:off x="5875020" y="3606605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DE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plot updates on each button press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A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A7BD8F-F059-D3B6-F266-48759777F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CE37C19-8983-F4DD-8E77-7993E04E53A9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D4500A"/>
          </a:solidFill>
          <a:ln w="12700">
            <a:solidFill>
              <a:srgbClr val="D4500A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8BB228B-B05E-8041-75DA-5E7C77FF4B35}"/>
              </a:ext>
            </a:extLst>
          </p:cNvPr>
          <p:cNvSpPr/>
          <p:nvPr/>
        </p:nvSpPr>
        <p:spPr>
          <a:xfrm>
            <a:off x="32004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OVERVIEW</a:t>
            </a: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MATLAB App Designer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1356B6E-5B94-58CC-E876-2567D3C6E977}"/>
              </a:ext>
            </a:extLst>
          </p:cNvPr>
          <p:cNvSpPr/>
          <p:nvPr/>
        </p:nvSpPr>
        <p:spPr>
          <a:xfrm>
            <a:off x="320040" y="5486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7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App Designer Interface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320040" y="4058529"/>
            <a:ext cx="8503920" cy="822960"/>
          </a:xfrm>
          <a:prstGeom prst="rect">
            <a:avLst/>
          </a:prstGeom>
          <a:solidFill>
            <a:srgbClr val="2E1505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MATLAB App Designer — uifigure with numeric edit fields, dropdown menus, and push buttons. Real-world scenarios trigger a dedicated FEM sub-solver with scenario-specific physics parameters. Results annotated with T_max and T_min directly on the plot.</a:t>
            </a:r>
            <a:endParaRPr lang="en-US" sz="11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EE58195-E92E-D88F-46CE-A8E01F5F16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887" y="896112"/>
            <a:ext cx="7285307" cy="3025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543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A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80EEED-C01E-8128-6F4D-4B0A12A96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00BB5A6-AF59-AF69-4129-0990D103F497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D4500A"/>
          </a:solidFill>
          <a:ln w="12700">
            <a:solidFill>
              <a:srgbClr val="D4500A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BAE4B36-EF72-84FB-D7F9-51A3DD951C41}"/>
              </a:ext>
            </a:extLst>
          </p:cNvPr>
          <p:cNvSpPr/>
          <p:nvPr/>
        </p:nvSpPr>
        <p:spPr>
          <a:xfrm>
            <a:off x="32004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Results</a:t>
            </a: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—Case 1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8FF863F-C751-3523-6A25-8D06A22CDC9C}"/>
              </a:ext>
            </a:extLst>
          </p:cNvPr>
          <p:cNvSpPr/>
          <p:nvPr/>
        </p:nvSpPr>
        <p:spPr>
          <a:xfrm>
            <a:off x="320041" y="548640"/>
            <a:ext cx="738202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Result 1 — Baseline (k=500, h=1, t=10mm, T=100°C, Blocks=4)</a:t>
            </a:r>
            <a:endParaRPr lang="en-US" sz="140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65EEC8B6-B0EA-6E87-46EB-FB8A1D2A10E1}"/>
              </a:ext>
            </a:extLst>
          </p:cNvPr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6BA92590-A427-533A-2490-042D45FFFA3D}"/>
              </a:ext>
            </a:extLst>
          </p:cNvPr>
          <p:cNvSpPr/>
          <p:nvPr/>
        </p:nvSpPr>
        <p:spPr>
          <a:xfrm>
            <a:off x="274320" y="868680"/>
            <a:ext cx="4023360" cy="25603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0EC58A9F-F000-50CB-2B70-3710C644FA68}"/>
              </a:ext>
            </a:extLst>
          </p:cNvPr>
          <p:cNvSpPr/>
          <p:nvPr/>
        </p:nvSpPr>
        <p:spPr>
          <a:xfrm>
            <a:off x="274320" y="8686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Parameters (GUI)</a:t>
            </a:r>
            <a:endParaRPr lang="en-US" sz="1100" dirty="0"/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EC6BA92D-73E0-3D37-37CC-7F23DC3C6FDD}"/>
              </a:ext>
            </a:extLst>
          </p:cNvPr>
          <p:cNvSpPr/>
          <p:nvPr/>
        </p:nvSpPr>
        <p:spPr>
          <a:xfrm>
            <a:off x="274320" y="1161288"/>
            <a:ext cx="4023360" cy="393192"/>
          </a:xfrm>
          <a:prstGeom prst="rect">
            <a:avLst/>
          </a:prstGeom>
          <a:solidFill>
            <a:srgbClr val="1E1E32"/>
          </a:solidFill>
          <a:ln w="6350">
            <a:solidFill>
              <a:srgbClr val="E67E22"/>
            </a:solidFill>
            <a:prstDash val="solid"/>
          </a:ln>
        </p:spPr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74AF51E4-1D44-1535-9BA2-FAA264DC2056}"/>
              </a:ext>
            </a:extLst>
          </p:cNvPr>
          <p:cNvSpPr/>
          <p:nvPr/>
        </p:nvSpPr>
        <p:spPr>
          <a:xfrm>
            <a:off x="365760" y="1188720"/>
            <a:ext cx="2377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Conductivity (k)</a:t>
            </a:r>
            <a:endParaRPr lang="en-US" sz="105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AE88EF3C-C98E-269E-FEEA-88024EF8F904}"/>
              </a:ext>
            </a:extLst>
          </p:cNvPr>
          <p:cNvSpPr/>
          <p:nvPr/>
        </p:nvSpPr>
        <p:spPr>
          <a:xfrm>
            <a:off x="2743200" y="1188720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W/(m·K)</a:t>
            </a:r>
            <a:endParaRPr lang="en-US" sz="1100" dirty="0"/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63229B67-B027-47E0-3703-875BE57AEE0B}"/>
              </a:ext>
            </a:extLst>
          </p:cNvPr>
          <p:cNvSpPr/>
          <p:nvPr/>
        </p:nvSpPr>
        <p:spPr>
          <a:xfrm>
            <a:off x="274320" y="1600200"/>
            <a:ext cx="4023360" cy="393192"/>
          </a:xfrm>
          <a:prstGeom prst="rect">
            <a:avLst/>
          </a:prstGeom>
          <a:solidFill>
            <a:srgbClr val="1E1E32"/>
          </a:solidFill>
          <a:ln w="6350">
            <a:solidFill>
              <a:srgbClr val="E67E22"/>
            </a:solidFill>
            <a:prstDash val="solid"/>
          </a:ln>
        </p:spPr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E2DC4F76-F11E-03A3-680A-23144E17EAD9}"/>
              </a:ext>
            </a:extLst>
          </p:cNvPr>
          <p:cNvSpPr/>
          <p:nvPr/>
        </p:nvSpPr>
        <p:spPr>
          <a:xfrm>
            <a:off x="365760" y="1627632"/>
            <a:ext cx="2377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Convection Coefficient (h)</a:t>
            </a:r>
            <a:endParaRPr lang="en-US" sz="1050" dirty="0"/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09C08C3F-5B8D-EF90-0976-41D1A2860E03}"/>
              </a:ext>
            </a:extLst>
          </p:cNvPr>
          <p:cNvSpPr/>
          <p:nvPr/>
        </p:nvSpPr>
        <p:spPr>
          <a:xfrm>
            <a:off x="2743200" y="1627632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W/(m²·K)</a:t>
            </a:r>
            <a:endParaRPr lang="en-US" sz="1100" dirty="0"/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BE082668-AA8A-6007-1481-0CCEAB241A93}"/>
              </a:ext>
            </a:extLst>
          </p:cNvPr>
          <p:cNvSpPr/>
          <p:nvPr/>
        </p:nvSpPr>
        <p:spPr>
          <a:xfrm>
            <a:off x="274320" y="2039112"/>
            <a:ext cx="4023360" cy="393192"/>
          </a:xfrm>
          <a:prstGeom prst="rect">
            <a:avLst/>
          </a:prstGeom>
          <a:solidFill>
            <a:srgbClr val="1E1E32"/>
          </a:solidFill>
          <a:ln w="6350">
            <a:solidFill>
              <a:srgbClr val="E67E22"/>
            </a:solidFill>
            <a:prstDash val="solid"/>
          </a:ln>
        </p:spPr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F5FB7EE6-FA1C-E9B5-7BF7-522864102C6A}"/>
              </a:ext>
            </a:extLst>
          </p:cNvPr>
          <p:cNvSpPr/>
          <p:nvPr/>
        </p:nvSpPr>
        <p:spPr>
          <a:xfrm>
            <a:off x="365760" y="2066544"/>
            <a:ext cx="2377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Thickness (t)</a:t>
            </a:r>
            <a:endParaRPr lang="en-US" sz="1050" dirty="0"/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AA0E089B-E5DC-AD2F-1487-2FCCF4199DCD}"/>
              </a:ext>
            </a:extLst>
          </p:cNvPr>
          <p:cNvSpPr/>
          <p:nvPr/>
        </p:nvSpPr>
        <p:spPr>
          <a:xfrm>
            <a:off x="2743200" y="2066544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mm</a:t>
            </a:r>
            <a:endParaRPr lang="en-US" sz="11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241C6934-589F-88BA-E18D-15D004162F23}"/>
              </a:ext>
            </a:extLst>
          </p:cNvPr>
          <p:cNvSpPr/>
          <p:nvPr/>
        </p:nvSpPr>
        <p:spPr>
          <a:xfrm>
            <a:off x="274320" y="2478024"/>
            <a:ext cx="4023360" cy="393192"/>
          </a:xfrm>
          <a:prstGeom prst="rect">
            <a:avLst/>
          </a:prstGeom>
          <a:solidFill>
            <a:srgbClr val="1E1E32"/>
          </a:solidFill>
          <a:ln w="6350">
            <a:solidFill>
              <a:srgbClr val="E67E22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F7053D7-4CB2-9393-0FBC-A70EC7611017}"/>
              </a:ext>
            </a:extLst>
          </p:cNvPr>
          <p:cNvSpPr/>
          <p:nvPr/>
        </p:nvSpPr>
        <p:spPr>
          <a:xfrm>
            <a:off x="365760" y="2505456"/>
            <a:ext cx="2377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Temperature</a:t>
            </a:r>
            <a:endParaRPr lang="en-US" sz="105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1FE2EEE-11E2-C027-9718-AB6C451C50B8}"/>
              </a:ext>
            </a:extLst>
          </p:cNvPr>
          <p:cNvSpPr/>
          <p:nvPr/>
        </p:nvSpPr>
        <p:spPr>
          <a:xfrm>
            <a:off x="2743200" y="2505456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100°C</a:t>
            </a:r>
            <a:endParaRPr lang="en-US" sz="1100" dirty="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0694CB6A-9DAA-C79B-86D8-799A41D620C9}"/>
              </a:ext>
            </a:extLst>
          </p:cNvPr>
          <p:cNvSpPr/>
          <p:nvPr/>
        </p:nvSpPr>
        <p:spPr>
          <a:xfrm>
            <a:off x="274320" y="2916936"/>
            <a:ext cx="4023360" cy="393192"/>
          </a:xfrm>
          <a:prstGeom prst="rect">
            <a:avLst/>
          </a:prstGeom>
          <a:solidFill>
            <a:srgbClr val="1E1E32"/>
          </a:solidFill>
          <a:ln w="6350">
            <a:solidFill>
              <a:srgbClr val="E67E22"/>
            </a:solidFill>
            <a:prstDash val="solid"/>
          </a:ln>
        </p:spPr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EE01B652-1067-D415-3D33-0B926CEB2EF7}"/>
              </a:ext>
            </a:extLst>
          </p:cNvPr>
          <p:cNvSpPr/>
          <p:nvPr/>
        </p:nvSpPr>
        <p:spPr>
          <a:xfrm>
            <a:off x="365760" y="2944368"/>
            <a:ext cx="2377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Blocks</a:t>
            </a:r>
            <a:endParaRPr lang="en-US" sz="105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C778F7A9-90F0-59E1-9B18-A612C4B426DD}"/>
              </a:ext>
            </a:extLst>
          </p:cNvPr>
          <p:cNvSpPr/>
          <p:nvPr/>
        </p:nvSpPr>
        <p:spPr>
          <a:xfrm>
            <a:off x="2743200" y="2944368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Shape 56">
            <a:extLst>
              <a:ext uri="{FF2B5EF4-FFF2-40B4-BE49-F238E27FC236}">
                <a16:creationId xmlns:a16="http://schemas.microsoft.com/office/drawing/2014/main" id="{92650E25-0FE7-DD3F-51FB-96B109B3E8B5}"/>
              </a:ext>
            </a:extLst>
          </p:cNvPr>
          <p:cNvSpPr/>
          <p:nvPr/>
        </p:nvSpPr>
        <p:spPr>
          <a:xfrm>
            <a:off x="274320" y="3493008"/>
            <a:ext cx="4023360" cy="256032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26" name="Text 57">
            <a:extLst>
              <a:ext uri="{FF2B5EF4-FFF2-40B4-BE49-F238E27FC236}">
                <a16:creationId xmlns:a16="http://schemas.microsoft.com/office/drawing/2014/main" id="{32D2AFB3-524A-59A9-8EED-AB99BCD053C7}"/>
              </a:ext>
            </a:extLst>
          </p:cNvPr>
          <p:cNvSpPr/>
          <p:nvPr/>
        </p:nvSpPr>
        <p:spPr>
          <a:xfrm>
            <a:off x="274320" y="34930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100" dirty="0"/>
          </a:p>
        </p:txBody>
      </p:sp>
      <p:sp>
        <p:nvSpPr>
          <p:cNvPr id="27" name="Text 58">
            <a:extLst>
              <a:ext uri="{FF2B5EF4-FFF2-40B4-BE49-F238E27FC236}">
                <a16:creationId xmlns:a16="http://schemas.microsoft.com/office/drawing/2014/main" id="{3CFE7796-9F0F-4DFC-51B9-9A251A428C9B}"/>
              </a:ext>
            </a:extLst>
          </p:cNvPr>
          <p:cNvSpPr/>
          <p:nvPr/>
        </p:nvSpPr>
        <p:spPr>
          <a:xfrm>
            <a:off x="274320" y="3767328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DE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thermal conductivity with very low convection → heat distributes uniformly across domain. Temperature gradient decays gently from left boundary.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E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lateral heat spread; entire domain retains high temperature.</a:t>
            </a:r>
            <a:endParaRPr lang="en-US" sz="1100" dirty="0"/>
          </a:p>
        </p:txBody>
      </p:sp>
      <p:sp>
        <p:nvSpPr>
          <p:cNvPr id="29" name="Shape 22">
            <a:extLst>
              <a:ext uri="{FF2B5EF4-FFF2-40B4-BE49-F238E27FC236}">
                <a16:creationId xmlns:a16="http://schemas.microsoft.com/office/drawing/2014/main" id="{D0B37080-3F62-BC6B-B44B-DDD9D5D8F8C4}"/>
              </a:ext>
            </a:extLst>
          </p:cNvPr>
          <p:cNvSpPr/>
          <p:nvPr/>
        </p:nvSpPr>
        <p:spPr>
          <a:xfrm>
            <a:off x="4663440" y="868680"/>
            <a:ext cx="4160520" cy="25603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04467E1C-589F-C26B-4823-83DE4E5A0820}"/>
              </a:ext>
            </a:extLst>
          </p:cNvPr>
          <p:cNvSpPr/>
          <p:nvPr/>
        </p:nvSpPr>
        <p:spPr>
          <a:xfrm>
            <a:off x="4663440" y="86868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Distribution (MATLAB Output)</a:t>
            </a:r>
            <a:endParaRPr lang="en-US" sz="10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4C8EEFB-EC22-14DF-4705-27E98B54B9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7155" y="1300879"/>
            <a:ext cx="4553090" cy="2439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0750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A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36C57E-A337-83E7-A39C-8B9B25EA8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06ACDB3-DD0E-CADA-8E51-E2A633E1C1EA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D4500A"/>
          </a:solidFill>
          <a:ln w="12700">
            <a:solidFill>
              <a:srgbClr val="D4500A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042D994-6B41-D639-09C7-232AC24C52CD}"/>
              </a:ext>
            </a:extLst>
          </p:cNvPr>
          <p:cNvSpPr/>
          <p:nvPr/>
        </p:nvSpPr>
        <p:spPr>
          <a:xfrm>
            <a:off x="32004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Results</a:t>
            </a: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—Case 2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B8B909C-8599-6788-1186-44894C389B23}"/>
              </a:ext>
            </a:extLst>
          </p:cNvPr>
          <p:cNvSpPr/>
          <p:nvPr/>
        </p:nvSpPr>
        <p:spPr>
          <a:xfrm>
            <a:off x="320040" y="548640"/>
            <a:ext cx="7768883" cy="182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Result 2 — Low k (k=1, h=100, t=10mm, T=100°C, Blocks=4)</a:t>
            </a:r>
            <a:endParaRPr lang="en-US" sz="140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504C5A69-6BF8-3EF5-E94B-DBA141678887}"/>
              </a:ext>
            </a:extLst>
          </p:cNvPr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9" name="Shape 22">
            <a:extLst>
              <a:ext uri="{FF2B5EF4-FFF2-40B4-BE49-F238E27FC236}">
                <a16:creationId xmlns:a16="http://schemas.microsoft.com/office/drawing/2014/main" id="{89487E0F-6B71-BBBF-A29B-CF3EC7596764}"/>
              </a:ext>
            </a:extLst>
          </p:cNvPr>
          <p:cNvSpPr/>
          <p:nvPr/>
        </p:nvSpPr>
        <p:spPr>
          <a:xfrm>
            <a:off x="4663440" y="868680"/>
            <a:ext cx="4160520" cy="25603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D0DC7810-7BC2-D28A-FC30-17C7C5239BA4}"/>
              </a:ext>
            </a:extLst>
          </p:cNvPr>
          <p:cNvSpPr/>
          <p:nvPr/>
        </p:nvSpPr>
        <p:spPr>
          <a:xfrm>
            <a:off x="4663440" y="86868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Distribution (MATLAB Output)</a:t>
            </a:r>
            <a:endParaRPr lang="en-US" sz="1000" dirty="0"/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66A19E1A-C6B5-269C-061B-0D4BF4B05980}"/>
              </a:ext>
            </a:extLst>
          </p:cNvPr>
          <p:cNvSpPr/>
          <p:nvPr/>
        </p:nvSpPr>
        <p:spPr>
          <a:xfrm>
            <a:off x="274320" y="868680"/>
            <a:ext cx="402336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67711C42-482B-2B6B-1A9A-64A2F8949E80}"/>
              </a:ext>
            </a:extLst>
          </p:cNvPr>
          <p:cNvSpPr/>
          <p:nvPr/>
        </p:nvSpPr>
        <p:spPr>
          <a:xfrm>
            <a:off x="274320" y="8686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Parameters (GUI)</a:t>
            </a:r>
            <a:endParaRPr lang="en-US" sz="1100" dirty="0"/>
          </a:p>
        </p:txBody>
      </p:sp>
      <p:sp>
        <p:nvSpPr>
          <p:cNvPr id="28" name="Shape 7">
            <a:extLst>
              <a:ext uri="{FF2B5EF4-FFF2-40B4-BE49-F238E27FC236}">
                <a16:creationId xmlns:a16="http://schemas.microsoft.com/office/drawing/2014/main" id="{23923748-69E5-EDCC-212E-6F26BB203328}"/>
              </a:ext>
            </a:extLst>
          </p:cNvPr>
          <p:cNvSpPr/>
          <p:nvPr/>
        </p:nvSpPr>
        <p:spPr>
          <a:xfrm>
            <a:off x="274320" y="1161288"/>
            <a:ext cx="4023360" cy="393192"/>
          </a:xfrm>
          <a:prstGeom prst="rect">
            <a:avLst/>
          </a:prstGeom>
          <a:solidFill>
            <a:srgbClr val="1E1E32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87CCD518-C7B1-1670-7909-246FC4D3A00A}"/>
              </a:ext>
            </a:extLst>
          </p:cNvPr>
          <p:cNvSpPr/>
          <p:nvPr/>
        </p:nvSpPr>
        <p:spPr>
          <a:xfrm>
            <a:off x="365760" y="1188720"/>
            <a:ext cx="2377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Conductivity (k)</a:t>
            </a:r>
            <a:endParaRPr lang="en-US" sz="1050" dirty="0"/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3D5F5E8F-3480-155E-B165-53DB63853FEE}"/>
              </a:ext>
            </a:extLst>
          </p:cNvPr>
          <p:cNvSpPr/>
          <p:nvPr/>
        </p:nvSpPr>
        <p:spPr>
          <a:xfrm>
            <a:off x="2743200" y="1188720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W/(m·K)</a:t>
            </a:r>
            <a:endParaRPr lang="en-US" sz="1100" dirty="0"/>
          </a:p>
        </p:txBody>
      </p:sp>
      <p:sp>
        <p:nvSpPr>
          <p:cNvPr id="34" name="Shape 10">
            <a:extLst>
              <a:ext uri="{FF2B5EF4-FFF2-40B4-BE49-F238E27FC236}">
                <a16:creationId xmlns:a16="http://schemas.microsoft.com/office/drawing/2014/main" id="{0907C93F-D112-BB9B-0AA6-FC3F241D1EB1}"/>
              </a:ext>
            </a:extLst>
          </p:cNvPr>
          <p:cNvSpPr/>
          <p:nvPr/>
        </p:nvSpPr>
        <p:spPr>
          <a:xfrm>
            <a:off x="274320" y="1600200"/>
            <a:ext cx="4023360" cy="393192"/>
          </a:xfrm>
          <a:prstGeom prst="rect">
            <a:avLst/>
          </a:prstGeom>
          <a:solidFill>
            <a:srgbClr val="1E1E32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B6F193DB-042E-9939-CFA1-396159ADEE78}"/>
              </a:ext>
            </a:extLst>
          </p:cNvPr>
          <p:cNvSpPr/>
          <p:nvPr/>
        </p:nvSpPr>
        <p:spPr>
          <a:xfrm>
            <a:off x="365760" y="1627632"/>
            <a:ext cx="2377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Convection Coefficient (h)</a:t>
            </a:r>
            <a:endParaRPr lang="en-US" sz="1050" dirty="0"/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162287FE-F517-FDC0-BB82-A5225C69B2B3}"/>
              </a:ext>
            </a:extLst>
          </p:cNvPr>
          <p:cNvSpPr/>
          <p:nvPr/>
        </p:nvSpPr>
        <p:spPr>
          <a:xfrm>
            <a:off x="2743200" y="1627632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W/(m²·K)</a:t>
            </a:r>
            <a:endParaRPr lang="en-US" sz="1100" dirty="0"/>
          </a:p>
        </p:txBody>
      </p:sp>
      <p:sp>
        <p:nvSpPr>
          <p:cNvPr id="37" name="Shape 13">
            <a:extLst>
              <a:ext uri="{FF2B5EF4-FFF2-40B4-BE49-F238E27FC236}">
                <a16:creationId xmlns:a16="http://schemas.microsoft.com/office/drawing/2014/main" id="{8EB44566-B897-FDE6-4044-228FB3EA8B14}"/>
              </a:ext>
            </a:extLst>
          </p:cNvPr>
          <p:cNvSpPr/>
          <p:nvPr/>
        </p:nvSpPr>
        <p:spPr>
          <a:xfrm>
            <a:off x="274320" y="2039112"/>
            <a:ext cx="4023360" cy="393192"/>
          </a:xfrm>
          <a:prstGeom prst="rect">
            <a:avLst/>
          </a:prstGeom>
          <a:solidFill>
            <a:srgbClr val="1E1E32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0C358667-6E46-B419-7B63-B5649E1C9187}"/>
              </a:ext>
            </a:extLst>
          </p:cNvPr>
          <p:cNvSpPr/>
          <p:nvPr/>
        </p:nvSpPr>
        <p:spPr>
          <a:xfrm>
            <a:off x="365760" y="2066544"/>
            <a:ext cx="2377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Thickness (t)</a:t>
            </a:r>
            <a:endParaRPr lang="en-US" sz="1050" dirty="0"/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F8A39612-FF79-14F6-4124-6D0EDBBCC9F0}"/>
              </a:ext>
            </a:extLst>
          </p:cNvPr>
          <p:cNvSpPr/>
          <p:nvPr/>
        </p:nvSpPr>
        <p:spPr>
          <a:xfrm>
            <a:off x="2743200" y="2066544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mm</a:t>
            </a:r>
            <a:endParaRPr lang="en-US" sz="1100" dirty="0"/>
          </a:p>
        </p:txBody>
      </p:sp>
      <p:sp>
        <p:nvSpPr>
          <p:cNvPr id="40" name="Shape 16">
            <a:extLst>
              <a:ext uri="{FF2B5EF4-FFF2-40B4-BE49-F238E27FC236}">
                <a16:creationId xmlns:a16="http://schemas.microsoft.com/office/drawing/2014/main" id="{A45B084E-CEE4-79F6-56A2-4FB859B58499}"/>
              </a:ext>
            </a:extLst>
          </p:cNvPr>
          <p:cNvSpPr/>
          <p:nvPr/>
        </p:nvSpPr>
        <p:spPr>
          <a:xfrm>
            <a:off x="274320" y="2478024"/>
            <a:ext cx="4023360" cy="393192"/>
          </a:xfrm>
          <a:prstGeom prst="rect">
            <a:avLst/>
          </a:prstGeom>
          <a:solidFill>
            <a:srgbClr val="1E1E32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41" name="Text 17">
            <a:extLst>
              <a:ext uri="{FF2B5EF4-FFF2-40B4-BE49-F238E27FC236}">
                <a16:creationId xmlns:a16="http://schemas.microsoft.com/office/drawing/2014/main" id="{88A6F31C-CCEE-BF65-3B93-D861ECD48610}"/>
              </a:ext>
            </a:extLst>
          </p:cNvPr>
          <p:cNvSpPr/>
          <p:nvPr/>
        </p:nvSpPr>
        <p:spPr>
          <a:xfrm>
            <a:off x="365760" y="2505456"/>
            <a:ext cx="2377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Temperature</a:t>
            </a:r>
            <a:endParaRPr lang="en-US" sz="1050" dirty="0"/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D31782E6-6C27-96AE-42F4-1F76CC493105}"/>
              </a:ext>
            </a:extLst>
          </p:cNvPr>
          <p:cNvSpPr/>
          <p:nvPr/>
        </p:nvSpPr>
        <p:spPr>
          <a:xfrm>
            <a:off x="2743200" y="2505456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100°C</a:t>
            </a:r>
            <a:endParaRPr lang="en-US" sz="1100" dirty="0"/>
          </a:p>
        </p:txBody>
      </p:sp>
      <p:sp>
        <p:nvSpPr>
          <p:cNvPr id="43" name="Shape 19">
            <a:extLst>
              <a:ext uri="{FF2B5EF4-FFF2-40B4-BE49-F238E27FC236}">
                <a16:creationId xmlns:a16="http://schemas.microsoft.com/office/drawing/2014/main" id="{BB22CD99-D3A0-FC0E-76BD-A9C4AF0CB30C}"/>
              </a:ext>
            </a:extLst>
          </p:cNvPr>
          <p:cNvSpPr/>
          <p:nvPr/>
        </p:nvSpPr>
        <p:spPr>
          <a:xfrm>
            <a:off x="274320" y="2916936"/>
            <a:ext cx="4023360" cy="393192"/>
          </a:xfrm>
          <a:prstGeom prst="rect">
            <a:avLst/>
          </a:prstGeom>
          <a:solidFill>
            <a:srgbClr val="1E1E32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44" name="Text 20">
            <a:extLst>
              <a:ext uri="{FF2B5EF4-FFF2-40B4-BE49-F238E27FC236}">
                <a16:creationId xmlns:a16="http://schemas.microsoft.com/office/drawing/2014/main" id="{E5C5879F-A699-8F5C-346C-CD0019150234}"/>
              </a:ext>
            </a:extLst>
          </p:cNvPr>
          <p:cNvSpPr/>
          <p:nvPr/>
        </p:nvSpPr>
        <p:spPr>
          <a:xfrm>
            <a:off x="365760" y="2944368"/>
            <a:ext cx="2377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Blocks</a:t>
            </a:r>
            <a:endParaRPr lang="en-US" sz="1050" dirty="0"/>
          </a:p>
        </p:txBody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4FD764FA-52C2-03CC-DB32-AD8B8AA39750}"/>
              </a:ext>
            </a:extLst>
          </p:cNvPr>
          <p:cNvSpPr/>
          <p:nvPr/>
        </p:nvSpPr>
        <p:spPr>
          <a:xfrm>
            <a:off x="2743200" y="2944368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6" name="Shape 56">
            <a:extLst>
              <a:ext uri="{FF2B5EF4-FFF2-40B4-BE49-F238E27FC236}">
                <a16:creationId xmlns:a16="http://schemas.microsoft.com/office/drawing/2014/main" id="{BF75CBCE-010A-85B9-E09E-2C4ED189260C}"/>
              </a:ext>
            </a:extLst>
          </p:cNvPr>
          <p:cNvSpPr/>
          <p:nvPr/>
        </p:nvSpPr>
        <p:spPr>
          <a:xfrm>
            <a:off x="274320" y="3493008"/>
            <a:ext cx="4023360" cy="256032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47" name="Text 57">
            <a:extLst>
              <a:ext uri="{FF2B5EF4-FFF2-40B4-BE49-F238E27FC236}">
                <a16:creationId xmlns:a16="http://schemas.microsoft.com/office/drawing/2014/main" id="{7AC4FA74-6EC0-687F-80C2-6FF5B6708DA6}"/>
              </a:ext>
            </a:extLst>
          </p:cNvPr>
          <p:cNvSpPr/>
          <p:nvPr/>
        </p:nvSpPr>
        <p:spPr>
          <a:xfrm>
            <a:off x="274320" y="34930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100" dirty="0"/>
          </a:p>
        </p:txBody>
      </p:sp>
      <p:sp>
        <p:nvSpPr>
          <p:cNvPr id="48" name="Text 58">
            <a:extLst>
              <a:ext uri="{FF2B5EF4-FFF2-40B4-BE49-F238E27FC236}">
                <a16:creationId xmlns:a16="http://schemas.microsoft.com/office/drawing/2014/main" id="{8DC50B81-C7B5-8F67-6872-9376D0E38290}"/>
              </a:ext>
            </a:extLst>
          </p:cNvPr>
          <p:cNvSpPr/>
          <p:nvPr/>
        </p:nvSpPr>
        <p:spPr>
          <a:xfrm>
            <a:off x="274320" y="3767328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DE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conductivity with strong convection → heat is trapped near source boundary. Sharp temperature drop across domain.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E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localizes near x=0; most domain cools to near-ambient temperature.</a:t>
            </a:r>
            <a:endParaRPr lang="en-US" sz="110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F31A8F32-9251-31FF-2E2A-BA375404E1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6492" y="1353311"/>
            <a:ext cx="4533314" cy="2428423"/>
          </a:xfrm>
          <a:prstGeom prst="rect">
            <a:avLst/>
          </a:prstGeom>
        </p:spPr>
      </p:pic>
      <p:sp>
        <p:nvSpPr>
          <p:cNvPr id="50" name="Shape 44">
            <a:extLst>
              <a:ext uri="{FF2B5EF4-FFF2-40B4-BE49-F238E27FC236}">
                <a16:creationId xmlns:a16="http://schemas.microsoft.com/office/drawing/2014/main" id="{A03AC2ED-9D79-6B1C-9E80-F8BB8B8B12EF}"/>
              </a:ext>
            </a:extLst>
          </p:cNvPr>
          <p:cNvSpPr/>
          <p:nvPr/>
        </p:nvSpPr>
        <p:spPr>
          <a:xfrm>
            <a:off x="4846320" y="3763445"/>
            <a:ext cx="3474720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51" name="Text 55">
            <a:extLst>
              <a:ext uri="{FF2B5EF4-FFF2-40B4-BE49-F238E27FC236}">
                <a16:creationId xmlns:a16="http://schemas.microsoft.com/office/drawing/2014/main" id="{532E90D8-DD60-E38F-C95E-E71335DE53F4}"/>
              </a:ext>
            </a:extLst>
          </p:cNvPr>
          <p:cNvSpPr/>
          <p:nvPr/>
        </p:nvSpPr>
        <p:spPr>
          <a:xfrm>
            <a:off x="4846320" y="3809165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950151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A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A8B6CA-E99E-EC63-1893-6839E1C39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5B30145-B64C-9ABB-ACCD-AED19FF9EA61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D4500A"/>
          </a:solidFill>
          <a:ln w="12700">
            <a:solidFill>
              <a:srgbClr val="D4500A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5ADF27A-9CFE-25D1-9B91-14BB8D4C84B0}"/>
              </a:ext>
            </a:extLst>
          </p:cNvPr>
          <p:cNvSpPr/>
          <p:nvPr/>
        </p:nvSpPr>
        <p:spPr>
          <a:xfrm>
            <a:off x="32004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Results</a:t>
            </a: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—Case 3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5DF6BEE-1BC5-0DBA-F98D-6ACA26269456}"/>
              </a:ext>
            </a:extLst>
          </p:cNvPr>
          <p:cNvSpPr/>
          <p:nvPr/>
        </p:nvSpPr>
        <p:spPr>
          <a:xfrm>
            <a:off x="320040" y="548640"/>
            <a:ext cx="6108895" cy="182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Result 3 — High k (k=1000, h=10, t=10mm, T=1000°C, Blocks=3)</a:t>
            </a:r>
            <a:endParaRPr lang="en-US" sz="140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12B26194-1A2E-F1CB-7044-0EEB8C316993}"/>
              </a:ext>
            </a:extLst>
          </p:cNvPr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9" name="Shape 22">
            <a:extLst>
              <a:ext uri="{FF2B5EF4-FFF2-40B4-BE49-F238E27FC236}">
                <a16:creationId xmlns:a16="http://schemas.microsoft.com/office/drawing/2014/main" id="{CFD02153-3CCE-36AD-5ED3-655C21736819}"/>
              </a:ext>
            </a:extLst>
          </p:cNvPr>
          <p:cNvSpPr/>
          <p:nvPr/>
        </p:nvSpPr>
        <p:spPr>
          <a:xfrm>
            <a:off x="4663440" y="868680"/>
            <a:ext cx="4160520" cy="25603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572BAB88-6C0F-4C77-B135-1341705197ED}"/>
              </a:ext>
            </a:extLst>
          </p:cNvPr>
          <p:cNvSpPr/>
          <p:nvPr/>
        </p:nvSpPr>
        <p:spPr>
          <a:xfrm>
            <a:off x="4663440" y="86868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Distribution (MATLAB Output)</a:t>
            </a:r>
            <a:endParaRPr lang="en-US" sz="1000" dirty="0"/>
          </a:p>
        </p:txBody>
      </p:sp>
      <p:sp>
        <p:nvSpPr>
          <p:cNvPr id="50" name="Shape 44">
            <a:extLst>
              <a:ext uri="{FF2B5EF4-FFF2-40B4-BE49-F238E27FC236}">
                <a16:creationId xmlns:a16="http://schemas.microsoft.com/office/drawing/2014/main" id="{A6EE4913-43B3-A0FD-BE3A-C4BE6D85AA41}"/>
              </a:ext>
            </a:extLst>
          </p:cNvPr>
          <p:cNvSpPr/>
          <p:nvPr/>
        </p:nvSpPr>
        <p:spPr>
          <a:xfrm>
            <a:off x="4846320" y="3763445"/>
            <a:ext cx="3474720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51" name="Text 55">
            <a:extLst>
              <a:ext uri="{FF2B5EF4-FFF2-40B4-BE49-F238E27FC236}">
                <a16:creationId xmlns:a16="http://schemas.microsoft.com/office/drawing/2014/main" id="{91C538C3-C9E2-A757-E4E7-174BD7ECFD5A}"/>
              </a:ext>
            </a:extLst>
          </p:cNvPr>
          <p:cNvSpPr/>
          <p:nvPr/>
        </p:nvSpPr>
        <p:spPr>
          <a:xfrm>
            <a:off x="4846320" y="3809165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4F9D5C9-8BE9-B8F5-5B3D-C30C10154C05}"/>
              </a:ext>
            </a:extLst>
          </p:cNvPr>
          <p:cNvSpPr/>
          <p:nvPr/>
        </p:nvSpPr>
        <p:spPr>
          <a:xfrm>
            <a:off x="274320" y="868680"/>
            <a:ext cx="4023360" cy="256032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07809EB-CA67-9AB5-AA83-19BFECB8A417}"/>
              </a:ext>
            </a:extLst>
          </p:cNvPr>
          <p:cNvSpPr/>
          <p:nvPr/>
        </p:nvSpPr>
        <p:spPr>
          <a:xfrm>
            <a:off x="274320" y="8686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Parameters (GUI)</a:t>
            </a:r>
            <a:endParaRPr lang="en-US" sz="11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511F6BD-6457-A345-BEE1-417E208F63D4}"/>
              </a:ext>
            </a:extLst>
          </p:cNvPr>
          <p:cNvSpPr/>
          <p:nvPr/>
        </p:nvSpPr>
        <p:spPr>
          <a:xfrm>
            <a:off x="274320" y="1161288"/>
            <a:ext cx="4023360" cy="393192"/>
          </a:xfrm>
          <a:prstGeom prst="rect">
            <a:avLst/>
          </a:prstGeom>
          <a:solidFill>
            <a:srgbClr val="1E1E32"/>
          </a:solidFill>
          <a:ln w="6350">
            <a:solidFill>
              <a:srgbClr val="148F77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1C64C83-8962-E709-5032-7AD50AEC1488}"/>
              </a:ext>
            </a:extLst>
          </p:cNvPr>
          <p:cNvSpPr/>
          <p:nvPr/>
        </p:nvSpPr>
        <p:spPr>
          <a:xfrm>
            <a:off x="365760" y="1188720"/>
            <a:ext cx="2377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Conductivity (k)</a:t>
            </a:r>
            <a:endParaRPr lang="en-US" sz="10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1C857AD-3C3C-989C-CCF0-83FC86EC0A4C}"/>
              </a:ext>
            </a:extLst>
          </p:cNvPr>
          <p:cNvSpPr/>
          <p:nvPr/>
        </p:nvSpPr>
        <p:spPr>
          <a:xfrm>
            <a:off x="2743200" y="1188720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W/(m·K)</a:t>
            </a:r>
            <a:endParaRPr lang="en-US" sz="11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DBBE439-A315-B493-F264-54BB7C71CAD4}"/>
              </a:ext>
            </a:extLst>
          </p:cNvPr>
          <p:cNvSpPr/>
          <p:nvPr/>
        </p:nvSpPr>
        <p:spPr>
          <a:xfrm>
            <a:off x="274320" y="1600200"/>
            <a:ext cx="4023360" cy="393192"/>
          </a:xfrm>
          <a:prstGeom prst="rect">
            <a:avLst/>
          </a:prstGeom>
          <a:solidFill>
            <a:srgbClr val="1E1E32"/>
          </a:solidFill>
          <a:ln w="6350">
            <a:solidFill>
              <a:srgbClr val="148F77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4A2EB39-E52B-C529-4E43-D7F3A4040EDB}"/>
              </a:ext>
            </a:extLst>
          </p:cNvPr>
          <p:cNvSpPr/>
          <p:nvPr/>
        </p:nvSpPr>
        <p:spPr>
          <a:xfrm>
            <a:off x="365760" y="1627632"/>
            <a:ext cx="2377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Convection Coefficient (h)</a:t>
            </a:r>
            <a:endParaRPr lang="en-US" sz="10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1E219E6-BC50-EFEF-91DF-1F82F2EB5567}"/>
              </a:ext>
            </a:extLst>
          </p:cNvPr>
          <p:cNvSpPr/>
          <p:nvPr/>
        </p:nvSpPr>
        <p:spPr>
          <a:xfrm>
            <a:off x="2743200" y="1627632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W/(m²·K)</a:t>
            </a:r>
            <a:endParaRPr lang="en-US" sz="11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5985A0B5-400F-9915-25C5-0405845F0A5C}"/>
              </a:ext>
            </a:extLst>
          </p:cNvPr>
          <p:cNvSpPr/>
          <p:nvPr/>
        </p:nvSpPr>
        <p:spPr>
          <a:xfrm>
            <a:off x="274320" y="2039112"/>
            <a:ext cx="4023360" cy="393192"/>
          </a:xfrm>
          <a:prstGeom prst="rect">
            <a:avLst/>
          </a:prstGeom>
          <a:solidFill>
            <a:srgbClr val="1E1E32"/>
          </a:solidFill>
          <a:ln w="6350">
            <a:solidFill>
              <a:srgbClr val="148F77"/>
            </a:solidFill>
            <a:prstDash val="solid"/>
          </a:ln>
        </p:spPr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87A9B9F8-71D9-7C17-8324-43E3EB0D8DA0}"/>
              </a:ext>
            </a:extLst>
          </p:cNvPr>
          <p:cNvSpPr/>
          <p:nvPr/>
        </p:nvSpPr>
        <p:spPr>
          <a:xfrm>
            <a:off x="365760" y="2066544"/>
            <a:ext cx="2377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Thickness (t)</a:t>
            </a:r>
            <a:endParaRPr lang="en-US" sz="1050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E34B3242-C389-D8AA-B96D-2A46669565DF}"/>
              </a:ext>
            </a:extLst>
          </p:cNvPr>
          <p:cNvSpPr/>
          <p:nvPr/>
        </p:nvSpPr>
        <p:spPr>
          <a:xfrm>
            <a:off x="2743200" y="2066544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mm</a:t>
            </a:r>
            <a:endParaRPr lang="en-US" sz="1100" dirty="0"/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A1A3F7CB-3D9E-F602-5CAA-D0F4F8E20D3F}"/>
              </a:ext>
            </a:extLst>
          </p:cNvPr>
          <p:cNvSpPr/>
          <p:nvPr/>
        </p:nvSpPr>
        <p:spPr>
          <a:xfrm>
            <a:off x="274320" y="2478024"/>
            <a:ext cx="4023360" cy="393192"/>
          </a:xfrm>
          <a:prstGeom prst="rect">
            <a:avLst/>
          </a:prstGeom>
          <a:solidFill>
            <a:srgbClr val="1E1E32"/>
          </a:solidFill>
          <a:ln w="6350">
            <a:solidFill>
              <a:srgbClr val="148F77"/>
            </a:solidFill>
            <a:prstDash val="solid"/>
          </a:ln>
        </p:spPr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9FB9127A-AA4B-AF1A-48D5-B93C20B89DC8}"/>
              </a:ext>
            </a:extLst>
          </p:cNvPr>
          <p:cNvSpPr/>
          <p:nvPr/>
        </p:nvSpPr>
        <p:spPr>
          <a:xfrm>
            <a:off x="365760" y="2505456"/>
            <a:ext cx="2377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Temperature</a:t>
            </a:r>
            <a:endParaRPr lang="en-US" sz="1050" dirty="0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C56AB1BA-74E8-BEA3-6461-DE2246F6F6B2}"/>
              </a:ext>
            </a:extLst>
          </p:cNvPr>
          <p:cNvSpPr/>
          <p:nvPr/>
        </p:nvSpPr>
        <p:spPr>
          <a:xfrm>
            <a:off x="2743200" y="2505456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1000°C</a:t>
            </a:r>
            <a:endParaRPr lang="en-US" sz="1100" dirty="0"/>
          </a:p>
        </p:txBody>
      </p:sp>
      <p:sp>
        <p:nvSpPr>
          <p:cNvPr id="24" name="Shape 19">
            <a:extLst>
              <a:ext uri="{FF2B5EF4-FFF2-40B4-BE49-F238E27FC236}">
                <a16:creationId xmlns:a16="http://schemas.microsoft.com/office/drawing/2014/main" id="{59F96026-F8F8-A0DA-3FF4-F5B5CADCC88C}"/>
              </a:ext>
            </a:extLst>
          </p:cNvPr>
          <p:cNvSpPr/>
          <p:nvPr/>
        </p:nvSpPr>
        <p:spPr>
          <a:xfrm>
            <a:off x="274320" y="2916936"/>
            <a:ext cx="4023360" cy="393192"/>
          </a:xfrm>
          <a:prstGeom prst="rect">
            <a:avLst/>
          </a:prstGeom>
          <a:solidFill>
            <a:srgbClr val="1E1E32"/>
          </a:solidFill>
          <a:ln w="6350">
            <a:solidFill>
              <a:srgbClr val="148F77"/>
            </a:solidFill>
            <a:prstDash val="solid"/>
          </a:ln>
        </p:spPr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B46C1D7A-5583-6EC0-7348-E02FEF55318B}"/>
              </a:ext>
            </a:extLst>
          </p:cNvPr>
          <p:cNvSpPr/>
          <p:nvPr/>
        </p:nvSpPr>
        <p:spPr>
          <a:xfrm>
            <a:off x="365760" y="2944368"/>
            <a:ext cx="2377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Blocks</a:t>
            </a:r>
            <a:endParaRPr lang="en-US" sz="1050" dirty="0"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5C7608FC-8F28-2E9A-8A81-8F3B17F5A0DF}"/>
              </a:ext>
            </a:extLst>
          </p:cNvPr>
          <p:cNvSpPr/>
          <p:nvPr/>
        </p:nvSpPr>
        <p:spPr>
          <a:xfrm>
            <a:off x="2743200" y="2944368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Shape 56">
            <a:extLst>
              <a:ext uri="{FF2B5EF4-FFF2-40B4-BE49-F238E27FC236}">
                <a16:creationId xmlns:a16="http://schemas.microsoft.com/office/drawing/2014/main" id="{8629C78F-8F04-7E7F-4C3C-98B77771F736}"/>
              </a:ext>
            </a:extLst>
          </p:cNvPr>
          <p:cNvSpPr/>
          <p:nvPr/>
        </p:nvSpPr>
        <p:spPr>
          <a:xfrm>
            <a:off x="274320" y="3493008"/>
            <a:ext cx="4023360" cy="256032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31" name="Text 57">
            <a:extLst>
              <a:ext uri="{FF2B5EF4-FFF2-40B4-BE49-F238E27FC236}">
                <a16:creationId xmlns:a16="http://schemas.microsoft.com/office/drawing/2014/main" id="{7EA1DC17-D2E2-8CA4-A57E-05F1687F352A}"/>
              </a:ext>
            </a:extLst>
          </p:cNvPr>
          <p:cNvSpPr/>
          <p:nvPr/>
        </p:nvSpPr>
        <p:spPr>
          <a:xfrm>
            <a:off x="274320" y="34930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100" dirty="0"/>
          </a:p>
        </p:txBody>
      </p:sp>
      <p:sp>
        <p:nvSpPr>
          <p:cNvPr id="52" name="Text 58">
            <a:extLst>
              <a:ext uri="{FF2B5EF4-FFF2-40B4-BE49-F238E27FC236}">
                <a16:creationId xmlns:a16="http://schemas.microsoft.com/office/drawing/2014/main" id="{A2022713-A03E-BC5C-2D7F-5AA909F252F5}"/>
              </a:ext>
            </a:extLst>
          </p:cNvPr>
          <p:cNvSpPr/>
          <p:nvPr/>
        </p:nvSpPr>
        <p:spPr>
          <a:xfrm>
            <a:off x="274320" y="3767328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DE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conductivity → heat penetrates deep into domain with moderate convection losses. Uniform high temperature throughout.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E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spreads widely; minimal loss across domain extent.</a:t>
            </a:r>
            <a:endParaRPr lang="en-US" sz="1100" dirty="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668C9B90-A15A-40A2-0E86-A85622D6EA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2869" y="1318763"/>
            <a:ext cx="4501662" cy="239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9279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A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90583F-78AF-9F76-8DCC-B74BA7AEA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FB9FA22-B519-E9F3-E8A9-7B6B7881583B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D4500A"/>
          </a:solidFill>
          <a:ln w="12700">
            <a:solidFill>
              <a:srgbClr val="D4500A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2DB2601-8C1A-DF73-9837-34A98E21ACC1}"/>
              </a:ext>
            </a:extLst>
          </p:cNvPr>
          <p:cNvSpPr/>
          <p:nvPr/>
        </p:nvSpPr>
        <p:spPr>
          <a:xfrm>
            <a:off x="32004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Results</a:t>
            </a: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—Case 4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0B3A333-58EC-E7CE-F0B6-9D5A59E92D9C}"/>
              </a:ext>
            </a:extLst>
          </p:cNvPr>
          <p:cNvSpPr/>
          <p:nvPr/>
        </p:nvSpPr>
        <p:spPr>
          <a:xfrm>
            <a:off x="320040" y="548640"/>
            <a:ext cx="6108895" cy="182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Result 4 — k=0.001, h=0.0001, t=1e+05, T=1000°C, Blocks=4</a:t>
            </a:r>
            <a:endParaRPr lang="en-US" sz="140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446DA88D-85F9-2F59-885E-F0D4FF036716}"/>
              </a:ext>
            </a:extLst>
          </p:cNvPr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9" name="Shape 22">
            <a:extLst>
              <a:ext uri="{FF2B5EF4-FFF2-40B4-BE49-F238E27FC236}">
                <a16:creationId xmlns:a16="http://schemas.microsoft.com/office/drawing/2014/main" id="{F5180649-D2AE-AD3A-D6CB-BC78647D6B66}"/>
              </a:ext>
            </a:extLst>
          </p:cNvPr>
          <p:cNvSpPr/>
          <p:nvPr/>
        </p:nvSpPr>
        <p:spPr>
          <a:xfrm>
            <a:off x="4663440" y="868680"/>
            <a:ext cx="4160520" cy="25603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F1B72C4E-A785-3785-17DA-EAB00AA7397C}"/>
              </a:ext>
            </a:extLst>
          </p:cNvPr>
          <p:cNvSpPr/>
          <p:nvPr/>
        </p:nvSpPr>
        <p:spPr>
          <a:xfrm>
            <a:off x="4663440" y="86868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Distribution (MATLAB Output)</a:t>
            </a:r>
            <a:endParaRPr lang="en-US" sz="1000" dirty="0"/>
          </a:p>
        </p:txBody>
      </p:sp>
      <p:sp>
        <p:nvSpPr>
          <p:cNvPr id="50" name="Shape 44">
            <a:extLst>
              <a:ext uri="{FF2B5EF4-FFF2-40B4-BE49-F238E27FC236}">
                <a16:creationId xmlns:a16="http://schemas.microsoft.com/office/drawing/2014/main" id="{71BB8BF3-6A02-51DF-992A-2985493E568B}"/>
              </a:ext>
            </a:extLst>
          </p:cNvPr>
          <p:cNvSpPr/>
          <p:nvPr/>
        </p:nvSpPr>
        <p:spPr>
          <a:xfrm>
            <a:off x="4846320" y="3763445"/>
            <a:ext cx="3474720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51" name="Text 55">
            <a:extLst>
              <a:ext uri="{FF2B5EF4-FFF2-40B4-BE49-F238E27FC236}">
                <a16:creationId xmlns:a16="http://schemas.microsoft.com/office/drawing/2014/main" id="{CA8DECC0-7A00-86B6-EC32-D08B429282FF}"/>
              </a:ext>
            </a:extLst>
          </p:cNvPr>
          <p:cNvSpPr/>
          <p:nvPr/>
        </p:nvSpPr>
        <p:spPr>
          <a:xfrm>
            <a:off x="4846320" y="3809165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91C8E49-E48B-E021-FC14-87D35CCA88A9}"/>
              </a:ext>
            </a:extLst>
          </p:cNvPr>
          <p:cNvSpPr/>
          <p:nvPr/>
        </p:nvSpPr>
        <p:spPr>
          <a:xfrm>
            <a:off x="274320" y="868680"/>
            <a:ext cx="4023360" cy="256032"/>
          </a:xfrm>
          <a:prstGeom prst="rect">
            <a:avLst/>
          </a:prstGeom>
          <a:solidFill>
            <a:srgbClr val="00B050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AC52A0B-8DF9-0E82-F2C8-45547166DD8C}"/>
              </a:ext>
            </a:extLst>
          </p:cNvPr>
          <p:cNvSpPr/>
          <p:nvPr/>
        </p:nvSpPr>
        <p:spPr>
          <a:xfrm>
            <a:off x="274320" y="8686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Parameters (GUI)</a:t>
            </a:r>
            <a:endParaRPr lang="en-US" sz="11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B4D5F72-90BF-81CF-CD83-E3C220A8DF13}"/>
              </a:ext>
            </a:extLst>
          </p:cNvPr>
          <p:cNvSpPr/>
          <p:nvPr/>
        </p:nvSpPr>
        <p:spPr>
          <a:xfrm>
            <a:off x="274320" y="1161288"/>
            <a:ext cx="4023360" cy="393192"/>
          </a:xfrm>
          <a:prstGeom prst="rect">
            <a:avLst/>
          </a:prstGeom>
          <a:solidFill>
            <a:srgbClr val="1E1E32"/>
          </a:solidFill>
          <a:ln w="6350">
            <a:solidFill>
              <a:srgbClr val="00B050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26F01E0-5E73-FCAD-6DC5-206A1C1FBE6E}"/>
              </a:ext>
            </a:extLst>
          </p:cNvPr>
          <p:cNvSpPr/>
          <p:nvPr/>
        </p:nvSpPr>
        <p:spPr>
          <a:xfrm>
            <a:off x="365760" y="1188720"/>
            <a:ext cx="2377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Conductivity (k)</a:t>
            </a:r>
            <a:endParaRPr lang="en-US" sz="10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A5BA82E-144A-C498-5B18-5C9BD7D0D9F8}"/>
              </a:ext>
            </a:extLst>
          </p:cNvPr>
          <p:cNvSpPr/>
          <p:nvPr/>
        </p:nvSpPr>
        <p:spPr>
          <a:xfrm>
            <a:off x="2743200" y="1188720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 W/(m·K)</a:t>
            </a:r>
            <a:endParaRPr lang="en-US" sz="1100" dirty="0">
              <a:solidFill>
                <a:srgbClr val="00B050"/>
              </a:solidFill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3A6CCA1C-67FD-880B-03BC-75C7A3055865}"/>
              </a:ext>
            </a:extLst>
          </p:cNvPr>
          <p:cNvSpPr/>
          <p:nvPr/>
        </p:nvSpPr>
        <p:spPr>
          <a:xfrm>
            <a:off x="274320" y="1600200"/>
            <a:ext cx="4023360" cy="393192"/>
          </a:xfrm>
          <a:prstGeom prst="rect">
            <a:avLst/>
          </a:prstGeom>
          <a:solidFill>
            <a:srgbClr val="1E1E32"/>
          </a:solidFill>
          <a:ln w="6350">
            <a:solidFill>
              <a:srgbClr val="00B050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D905270-DB47-140F-09D6-E1D3C588D4B9}"/>
              </a:ext>
            </a:extLst>
          </p:cNvPr>
          <p:cNvSpPr/>
          <p:nvPr/>
        </p:nvSpPr>
        <p:spPr>
          <a:xfrm>
            <a:off x="365760" y="1627632"/>
            <a:ext cx="2377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Convection Coefficient (h)</a:t>
            </a:r>
            <a:endParaRPr lang="en-US" sz="10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49E905E-CB36-3B20-628D-5F95193227A4}"/>
              </a:ext>
            </a:extLst>
          </p:cNvPr>
          <p:cNvSpPr/>
          <p:nvPr/>
        </p:nvSpPr>
        <p:spPr>
          <a:xfrm>
            <a:off x="2743200" y="1627632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0.0001 W/(m²·K)</a:t>
            </a:r>
            <a:endParaRPr lang="en-US" sz="1100" dirty="0">
              <a:solidFill>
                <a:srgbClr val="00B050"/>
              </a:solidFill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89522EE4-2F2D-F0D9-23F6-0E508B7591FD}"/>
              </a:ext>
            </a:extLst>
          </p:cNvPr>
          <p:cNvSpPr/>
          <p:nvPr/>
        </p:nvSpPr>
        <p:spPr>
          <a:xfrm>
            <a:off x="274320" y="2039112"/>
            <a:ext cx="4023360" cy="393192"/>
          </a:xfrm>
          <a:prstGeom prst="rect">
            <a:avLst/>
          </a:prstGeom>
          <a:solidFill>
            <a:srgbClr val="1E1E32"/>
          </a:solidFill>
          <a:ln w="6350">
            <a:solidFill>
              <a:srgbClr val="00B050"/>
            </a:solidFill>
            <a:prstDash val="solid"/>
          </a:ln>
        </p:spPr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5901295B-42AD-ABB5-68C1-938A3AED5600}"/>
              </a:ext>
            </a:extLst>
          </p:cNvPr>
          <p:cNvSpPr/>
          <p:nvPr/>
        </p:nvSpPr>
        <p:spPr>
          <a:xfrm>
            <a:off x="365760" y="2066544"/>
            <a:ext cx="2377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Thickness (t)</a:t>
            </a:r>
            <a:endParaRPr lang="en-US" sz="1050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1C420201-ABFA-A358-5A2E-BA95E19F446F}"/>
              </a:ext>
            </a:extLst>
          </p:cNvPr>
          <p:cNvSpPr/>
          <p:nvPr/>
        </p:nvSpPr>
        <p:spPr>
          <a:xfrm>
            <a:off x="2743200" y="2066544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mm</a:t>
            </a:r>
            <a:endParaRPr lang="en-US" sz="1100" dirty="0">
              <a:solidFill>
                <a:srgbClr val="00B050"/>
              </a:solidFill>
            </a:endParaRPr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CD885926-FA5E-DC83-E365-7321AE1D6E56}"/>
              </a:ext>
            </a:extLst>
          </p:cNvPr>
          <p:cNvSpPr/>
          <p:nvPr/>
        </p:nvSpPr>
        <p:spPr>
          <a:xfrm>
            <a:off x="274320" y="2478024"/>
            <a:ext cx="4023360" cy="393192"/>
          </a:xfrm>
          <a:prstGeom prst="rect">
            <a:avLst/>
          </a:prstGeom>
          <a:solidFill>
            <a:srgbClr val="1E1E32"/>
          </a:solidFill>
          <a:ln w="6350">
            <a:solidFill>
              <a:srgbClr val="00B050"/>
            </a:solidFill>
            <a:prstDash val="solid"/>
          </a:ln>
        </p:spPr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A910BD37-935C-5F65-C3EA-CE771F35CF2A}"/>
              </a:ext>
            </a:extLst>
          </p:cNvPr>
          <p:cNvSpPr/>
          <p:nvPr/>
        </p:nvSpPr>
        <p:spPr>
          <a:xfrm>
            <a:off x="365760" y="2505456"/>
            <a:ext cx="2377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Temperature</a:t>
            </a:r>
            <a:endParaRPr lang="en-US" sz="1050" dirty="0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5AC41637-0A3A-B0E8-30E5-F83E6E57551D}"/>
              </a:ext>
            </a:extLst>
          </p:cNvPr>
          <p:cNvSpPr/>
          <p:nvPr/>
        </p:nvSpPr>
        <p:spPr>
          <a:xfrm>
            <a:off x="2743200" y="2505456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1000°C</a:t>
            </a:r>
            <a:endParaRPr lang="en-US" sz="1100" dirty="0">
              <a:solidFill>
                <a:srgbClr val="00B050"/>
              </a:solidFill>
            </a:endParaRPr>
          </a:p>
        </p:txBody>
      </p:sp>
      <p:sp>
        <p:nvSpPr>
          <p:cNvPr id="24" name="Shape 19">
            <a:extLst>
              <a:ext uri="{FF2B5EF4-FFF2-40B4-BE49-F238E27FC236}">
                <a16:creationId xmlns:a16="http://schemas.microsoft.com/office/drawing/2014/main" id="{EBD57126-CD28-BDAB-02D7-FF4FDD1713A5}"/>
              </a:ext>
            </a:extLst>
          </p:cNvPr>
          <p:cNvSpPr/>
          <p:nvPr/>
        </p:nvSpPr>
        <p:spPr>
          <a:xfrm>
            <a:off x="274320" y="2916936"/>
            <a:ext cx="4023360" cy="393192"/>
          </a:xfrm>
          <a:prstGeom prst="rect">
            <a:avLst/>
          </a:prstGeom>
          <a:solidFill>
            <a:srgbClr val="1E1E32"/>
          </a:solidFill>
          <a:ln w="6350">
            <a:solidFill>
              <a:srgbClr val="00B050"/>
            </a:solidFill>
            <a:prstDash val="solid"/>
          </a:ln>
        </p:spPr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41C1C271-FEB7-130A-DA1D-83B71DFEC3CE}"/>
              </a:ext>
            </a:extLst>
          </p:cNvPr>
          <p:cNvSpPr/>
          <p:nvPr/>
        </p:nvSpPr>
        <p:spPr>
          <a:xfrm>
            <a:off x="365760" y="2944368"/>
            <a:ext cx="2377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Blocks</a:t>
            </a:r>
            <a:endParaRPr lang="en-US" sz="1050" dirty="0"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C1D0FF4C-3DE6-B557-7D81-A776AF93E640}"/>
              </a:ext>
            </a:extLst>
          </p:cNvPr>
          <p:cNvSpPr/>
          <p:nvPr/>
        </p:nvSpPr>
        <p:spPr>
          <a:xfrm>
            <a:off x="2743200" y="2944368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>
              <a:solidFill>
                <a:srgbClr val="00B050"/>
              </a:solidFill>
            </a:endParaRPr>
          </a:p>
        </p:txBody>
      </p:sp>
      <p:sp>
        <p:nvSpPr>
          <p:cNvPr id="27" name="Shape 56">
            <a:extLst>
              <a:ext uri="{FF2B5EF4-FFF2-40B4-BE49-F238E27FC236}">
                <a16:creationId xmlns:a16="http://schemas.microsoft.com/office/drawing/2014/main" id="{D5801367-139D-1DEA-B290-697E0F99A02C}"/>
              </a:ext>
            </a:extLst>
          </p:cNvPr>
          <p:cNvSpPr/>
          <p:nvPr/>
        </p:nvSpPr>
        <p:spPr>
          <a:xfrm>
            <a:off x="274320" y="3493008"/>
            <a:ext cx="4023360" cy="256032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31" name="Text 57">
            <a:extLst>
              <a:ext uri="{FF2B5EF4-FFF2-40B4-BE49-F238E27FC236}">
                <a16:creationId xmlns:a16="http://schemas.microsoft.com/office/drawing/2014/main" id="{695FC492-AA9D-E9C3-E1DF-E267C4595EB1}"/>
              </a:ext>
            </a:extLst>
          </p:cNvPr>
          <p:cNvSpPr/>
          <p:nvPr/>
        </p:nvSpPr>
        <p:spPr>
          <a:xfrm>
            <a:off x="274320" y="34930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100" dirty="0"/>
          </a:p>
        </p:txBody>
      </p:sp>
      <p:sp>
        <p:nvSpPr>
          <p:cNvPr id="52" name="Text 58">
            <a:extLst>
              <a:ext uri="{FF2B5EF4-FFF2-40B4-BE49-F238E27FC236}">
                <a16:creationId xmlns:a16="http://schemas.microsoft.com/office/drawing/2014/main" id="{31DF8B5B-EF80-DD38-03CC-FE7C000372A6}"/>
              </a:ext>
            </a:extLst>
          </p:cNvPr>
          <p:cNvSpPr/>
          <p:nvPr/>
        </p:nvSpPr>
        <p:spPr>
          <a:xfrm>
            <a:off x="274320" y="3767328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DE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thickness → the overall temperature decreases. The thicker materials allows more heat to escape via convection, resulting in a cooler domain and a less steep temperature gradient compared to thinner samples.</a:t>
            </a:r>
            <a:endParaRPr lang="en-US" sz="1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C328D5-5FD7-360B-7C9E-3320A9D02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9246" y="1281513"/>
            <a:ext cx="4448908" cy="237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7466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A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04B91B-0718-A87D-FCA0-E5273CF4A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DBEC6AE-027B-A305-AD5C-D7A08653B92C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D4500A"/>
          </a:solidFill>
          <a:ln w="12700">
            <a:solidFill>
              <a:srgbClr val="D4500A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FE20F96-EE40-DA5A-C9CA-BBA9DC102E2D}"/>
              </a:ext>
            </a:extLst>
          </p:cNvPr>
          <p:cNvSpPr/>
          <p:nvPr/>
        </p:nvSpPr>
        <p:spPr>
          <a:xfrm>
            <a:off x="32004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Results</a:t>
            </a: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—Case 5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67B1026-C5A6-C880-BF7A-15D7FB3B29F3}"/>
              </a:ext>
            </a:extLst>
          </p:cNvPr>
          <p:cNvSpPr/>
          <p:nvPr/>
        </p:nvSpPr>
        <p:spPr>
          <a:xfrm>
            <a:off x="320040" y="548640"/>
            <a:ext cx="6108895" cy="182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Result 4 — k=10, h=20, t=1mm, T=500°C, Blocks=1</a:t>
            </a:r>
            <a:endParaRPr lang="en-US" sz="140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94905BC8-6157-9BDD-8B6D-F1841A89CB25}"/>
              </a:ext>
            </a:extLst>
          </p:cNvPr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9" name="Shape 22">
            <a:extLst>
              <a:ext uri="{FF2B5EF4-FFF2-40B4-BE49-F238E27FC236}">
                <a16:creationId xmlns:a16="http://schemas.microsoft.com/office/drawing/2014/main" id="{8ED56C99-6E45-E12D-A52B-7053C4CAA46B}"/>
              </a:ext>
            </a:extLst>
          </p:cNvPr>
          <p:cNvSpPr/>
          <p:nvPr/>
        </p:nvSpPr>
        <p:spPr>
          <a:xfrm>
            <a:off x="4663440" y="868680"/>
            <a:ext cx="4160520" cy="25603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591C1290-7A67-F57F-F793-B4F8BDEE9664}"/>
              </a:ext>
            </a:extLst>
          </p:cNvPr>
          <p:cNvSpPr/>
          <p:nvPr/>
        </p:nvSpPr>
        <p:spPr>
          <a:xfrm>
            <a:off x="4663440" y="86868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Distribution (MATLAB Output)</a:t>
            </a:r>
            <a:endParaRPr lang="en-US" sz="1000" dirty="0"/>
          </a:p>
        </p:txBody>
      </p:sp>
      <p:sp>
        <p:nvSpPr>
          <p:cNvPr id="50" name="Shape 44">
            <a:extLst>
              <a:ext uri="{FF2B5EF4-FFF2-40B4-BE49-F238E27FC236}">
                <a16:creationId xmlns:a16="http://schemas.microsoft.com/office/drawing/2014/main" id="{CAD470ED-83D9-778F-8DFF-77E2600EB374}"/>
              </a:ext>
            </a:extLst>
          </p:cNvPr>
          <p:cNvSpPr/>
          <p:nvPr/>
        </p:nvSpPr>
        <p:spPr>
          <a:xfrm>
            <a:off x="4846320" y="3763445"/>
            <a:ext cx="3474720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51" name="Text 55">
            <a:extLst>
              <a:ext uri="{FF2B5EF4-FFF2-40B4-BE49-F238E27FC236}">
                <a16:creationId xmlns:a16="http://schemas.microsoft.com/office/drawing/2014/main" id="{FD7ED324-89EB-E882-CBE3-85B521E015BD}"/>
              </a:ext>
            </a:extLst>
          </p:cNvPr>
          <p:cNvSpPr/>
          <p:nvPr/>
        </p:nvSpPr>
        <p:spPr>
          <a:xfrm>
            <a:off x="4846320" y="3809165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7573C0D-DA68-756A-86A6-E68C83F5C0FA}"/>
              </a:ext>
            </a:extLst>
          </p:cNvPr>
          <p:cNvSpPr/>
          <p:nvPr/>
        </p:nvSpPr>
        <p:spPr>
          <a:xfrm>
            <a:off x="274320" y="868680"/>
            <a:ext cx="4023360" cy="256032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>
            <a:solidFill>
              <a:schemeClr val="accent3">
                <a:lumMod val="75000"/>
              </a:schemeClr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8D29A83-6DBB-9DEF-4134-B93B4C4DEFB3}"/>
              </a:ext>
            </a:extLst>
          </p:cNvPr>
          <p:cNvSpPr/>
          <p:nvPr/>
        </p:nvSpPr>
        <p:spPr>
          <a:xfrm>
            <a:off x="274320" y="8686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Parameters (GUI)</a:t>
            </a:r>
            <a:endParaRPr lang="en-US" sz="11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ABA59A0-D0BB-77A4-E223-C50D40FF3F4B}"/>
              </a:ext>
            </a:extLst>
          </p:cNvPr>
          <p:cNvSpPr/>
          <p:nvPr/>
        </p:nvSpPr>
        <p:spPr>
          <a:xfrm>
            <a:off x="274320" y="1161288"/>
            <a:ext cx="4023360" cy="393192"/>
          </a:xfrm>
          <a:prstGeom prst="rect">
            <a:avLst/>
          </a:prstGeom>
          <a:solidFill>
            <a:srgbClr val="1E1E32"/>
          </a:solidFill>
          <a:ln w="6350">
            <a:solidFill>
              <a:schemeClr val="accent3">
                <a:lumMod val="75000"/>
              </a:schemeClr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99B33B8-6578-6B0D-CE8E-7E02FFBB8C3B}"/>
              </a:ext>
            </a:extLst>
          </p:cNvPr>
          <p:cNvSpPr/>
          <p:nvPr/>
        </p:nvSpPr>
        <p:spPr>
          <a:xfrm>
            <a:off x="365760" y="1188720"/>
            <a:ext cx="2377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Conductivity (k)</a:t>
            </a:r>
            <a:endParaRPr lang="en-US" sz="10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D9C5D81-D67E-80E0-5752-108C7B2EB93B}"/>
              </a:ext>
            </a:extLst>
          </p:cNvPr>
          <p:cNvSpPr/>
          <p:nvPr/>
        </p:nvSpPr>
        <p:spPr>
          <a:xfrm>
            <a:off x="2743200" y="1188720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W/(m·K)</a:t>
            </a:r>
            <a:endParaRPr lang="en-US" sz="11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75200858-3B4C-53D5-7ACD-6D5C7A611E75}"/>
              </a:ext>
            </a:extLst>
          </p:cNvPr>
          <p:cNvSpPr/>
          <p:nvPr/>
        </p:nvSpPr>
        <p:spPr>
          <a:xfrm>
            <a:off x="274320" y="1600200"/>
            <a:ext cx="4023360" cy="393192"/>
          </a:xfrm>
          <a:prstGeom prst="rect">
            <a:avLst/>
          </a:prstGeom>
          <a:solidFill>
            <a:srgbClr val="1E1E32"/>
          </a:solidFill>
          <a:ln w="6350">
            <a:solidFill>
              <a:schemeClr val="accent3">
                <a:lumMod val="75000"/>
              </a:schemeClr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8DE7F1B-EC61-ED2D-2BA0-FA58549BA62F}"/>
              </a:ext>
            </a:extLst>
          </p:cNvPr>
          <p:cNvSpPr/>
          <p:nvPr/>
        </p:nvSpPr>
        <p:spPr>
          <a:xfrm>
            <a:off x="365760" y="1627632"/>
            <a:ext cx="2377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Convection Coefficient (h)</a:t>
            </a:r>
            <a:endParaRPr lang="en-US" sz="10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38477B2-C817-395E-6A0E-ABFC1EE473E1}"/>
              </a:ext>
            </a:extLst>
          </p:cNvPr>
          <p:cNvSpPr/>
          <p:nvPr/>
        </p:nvSpPr>
        <p:spPr>
          <a:xfrm>
            <a:off x="2743200" y="1627632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W/(m²·K)</a:t>
            </a:r>
            <a:endParaRPr lang="en-US" sz="11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836E87A-8EBB-21BC-8BF1-EEA635B0D68E}"/>
              </a:ext>
            </a:extLst>
          </p:cNvPr>
          <p:cNvSpPr/>
          <p:nvPr/>
        </p:nvSpPr>
        <p:spPr>
          <a:xfrm>
            <a:off x="274320" y="2039112"/>
            <a:ext cx="4023360" cy="393192"/>
          </a:xfrm>
          <a:prstGeom prst="rect">
            <a:avLst/>
          </a:prstGeom>
          <a:solidFill>
            <a:srgbClr val="1E1E32"/>
          </a:solidFill>
          <a:ln w="6350">
            <a:solidFill>
              <a:schemeClr val="accent3">
                <a:lumMod val="75000"/>
              </a:schemeClr>
            </a:solidFill>
            <a:prstDash val="solid"/>
          </a:ln>
        </p:spPr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80B067A9-799C-5B10-0211-38801EB8234D}"/>
              </a:ext>
            </a:extLst>
          </p:cNvPr>
          <p:cNvSpPr/>
          <p:nvPr/>
        </p:nvSpPr>
        <p:spPr>
          <a:xfrm>
            <a:off x="365760" y="2066544"/>
            <a:ext cx="2377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Thickness (t)</a:t>
            </a:r>
            <a:endParaRPr lang="en-US" sz="1050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166CB948-5359-E875-115E-0C68FDC3AC5D}"/>
              </a:ext>
            </a:extLst>
          </p:cNvPr>
          <p:cNvSpPr/>
          <p:nvPr/>
        </p:nvSpPr>
        <p:spPr>
          <a:xfrm>
            <a:off x="2743200" y="2066544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mm</a:t>
            </a:r>
            <a:endParaRPr lang="en-US" sz="11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FC12A206-34BE-D1E0-FB48-2612B1F16393}"/>
              </a:ext>
            </a:extLst>
          </p:cNvPr>
          <p:cNvSpPr/>
          <p:nvPr/>
        </p:nvSpPr>
        <p:spPr>
          <a:xfrm>
            <a:off x="274320" y="2478024"/>
            <a:ext cx="4023360" cy="393192"/>
          </a:xfrm>
          <a:prstGeom prst="rect">
            <a:avLst/>
          </a:prstGeom>
          <a:solidFill>
            <a:srgbClr val="1E1E32"/>
          </a:solidFill>
          <a:ln w="6350">
            <a:solidFill>
              <a:schemeClr val="accent3">
                <a:lumMod val="75000"/>
              </a:schemeClr>
            </a:solidFill>
            <a:prstDash val="solid"/>
          </a:ln>
        </p:spPr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9EB6A9E9-760E-E603-8807-E6F92278D050}"/>
              </a:ext>
            </a:extLst>
          </p:cNvPr>
          <p:cNvSpPr/>
          <p:nvPr/>
        </p:nvSpPr>
        <p:spPr>
          <a:xfrm>
            <a:off x="365760" y="2505456"/>
            <a:ext cx="2377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Temperature</a:t>
            </a:r>
            <a:endParaRPr lang="en-US" sz="1050" dirty="0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0E78593F-6D91-D958-25DC-1AA808B651D4}"/>
              </a:ext>
            </a:extLst>
          </p:cNvPr>
          <p:cNvSpPr/>
          <p:nvPr/>
        </p:nvSpPr>
        <p:spPr>
          <a:xfrm>
            <a:off x="2743200" y="2505456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500°C</a:t>
            </a:r>
            <a:endParaRPr lang="en-US" sz="11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4" name="Shape 19">
            <a:extLst>
              <a:ext uri="{FF2B5EF4-FFF2-40B4-BE49-F238E27FC236}">
                <a16:creationId xmlns:a16="http://schemas.microsoft.com/office/drawing/2014/main" id="{BE525144-CDEA-CF1B-8452-F120AB9BB9FE}"/>
              </a:ext>
            </a:extLst>
          </p:cNvPr>
          <p:cNvSpPr/>
          <p:nvPr/>
        </p:nvSpPr>
        <p:spPr>
          <a:xfrm>
            <a:off x="274320" y="2916936"/>
            <a:ext cx="4023360" cy="393192"/>
          </a:xfrm>
          <a:prstGeom prst="rect">
            <a:avLst/>
          </a:prstGeom>
          <a:solidFill>
            <a:srgbClr val="1E1E32"/>
          </a:solidFill>
          <a:ln w="6350">
            <a:solidFill>
              <a:schemeClr val="accent3">
                <a:lumMod val="75000"/>
              </a:schemeClr>
            </a:solidFill>
            <a:prstDash val="solid"/>
          </a:ln>
        </p:spPr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22ED5C2D-85C7-8E8F-E1CD-915A9E33094F}"/>
              </a:ext>
            </a:extLst>
          </p:cNvPr>
          <p:cNvSpPr/>
          <p:nvPr/>
        </p:nvSpPr>
        <p:spPr>
          <a:xfrm>
            <a:off x="365760" y="2944368"/>
            <a:ext cx="2377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Blocks</a:t>
            </a:r>
            <a:endParaRPr lang="en-US" sz="1050" dirty="0"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DF382130-648F-5282-96DE-FB06F0A31C10}"/>
              </a:ext>
            </a:extLst>
          </p:cNvPr>
          <p:cNvSpPr/>
          <p:nvPr/>
        </p:nvSpPr>
        <p:spPr>
          <a:xfrm>
            <a:off x="2743200" y="2944368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" name="Shape 56">
            <a:extLst>
              <a:ext uri="{FF2B5EF4-FFF2-40B4-BE49-F238E27FC236}">
                <a16:creationId xmlns:a16="http://schemas.microsoft.com/office/drawing/2014/main" id="{9E4EA8C2-985E-6411-048A-1333C5491FE0}"/>
              </a:ext>
            </a:extLst>
          </p:cNvPr>
          <p:cNvSpPr/>
          <p:nvPr/>
        </p:nvSpPr>
        <p:spPr>
          <a:xfrm>
            <a:off x="274320" y="3493008"/>
            <a:ext cx="4023360" cy="256032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31" name="Text 57">
            <a:extLst>
              <a:ext uri="{FF2B5EF4-FFF2-40B4-BE49-F238E27FC236}">
                <a16:creationId xmlns:a16="http://schemas.microsoft.com/office/drawing/2014/main" id="{BFDD3CDF-0435-C039-89C9-FC9D1CD0080F}"/>
              </a:ext>
            </a:extLst>
          </p:cNvPr>
          <p:cNvSpPr/>
          <p:nvPr/>
        </p:nvSpPr>
        <p:spPr>
          <a:xfrm>
            <a:off x="274320" y="34930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100" dirty="0"/>
          </a:p>
        </p:txBody>
      </p:sp>
      <p:sp>
        <p:nvSpPr>
          <p:cNvPr id="52" name="Text 58">
            <a:extLst>
              <a:ext uri="{FF2B5EF4-FFF2-40B4-BE49-F238E27FC236}">
                <a16:creationId xmlns:a16="http://schemas.microsoft.com/office/drawing/2014/main" id="{90746819-4C85-B514-45A8-02CDAD674201}"/>
              </a:ext>
            </a:extLst>
          </p:cNvPr>
          <p:cNvSpPr/>
          <p:nvPr/>
        </p:nvSpPr>
        <p:spPr>
          <a:xfrm>
            <a:off x="274320" y="3767328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dirty="0">
                <a:solidFill>
                  <a:srgbClr val="FDE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block = full rectangular domain 10mm×70mm. Smooth linear gradient from left to right.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1A9A8F-9791-83AA-E7F9-9FC6F5756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9246" y="1295564"/>
            <a:ext cx="4448908" cy="2383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8037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D4500A"/>
          </a:solidFill>
          <a:ln w="12700">
            <a:solidFill>
              <a:srgbClr val="D45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ANALYSIS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7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Parameter Variation on Temperature Distribution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8503920" cy="749808"/>
          </a:xfrm>
          <a:prstGeom prst="rect">
            <a:avLst/>
          </a:prstGeom>
          <a:solidFill>
            <a:srgbClr val="2E1505"/>
          </a:solidFill>
          <a:ln w="12700">
            <a:solidFill>
              <a:srgbClr val="D450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926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7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Conductivity (k)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594360" cy="201168"/>
          </a:xfrm>
          <a:prstGeom prst="rect">
            <a:avLst/>
          </a:prstGeom>
          <a:solidFill>
            <a:srgbClr val="0A4A0A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2527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INCR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9728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k → heat spreads more uniformly → gradual gradient across domain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1234440"/>
            <a:ext cx="594360" cy="201168"/>
          </a:xfrm>
          <a:prstGeom prst="rect">
            <a:avLst/>
          </a:prstGeom>
          <a:solidFill>
            <a:srgbClr val="4A0A0A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12527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DECR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44068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k → heat concentrated near hot boundary → steep gradient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755648"/>
            <a:ext cx="8503920" cy="749808"/>
          </a:xfrm>
          <a:prstGeom prst="rect">
            <a:avLst/>
          </a:prstGeom>
          <a:solidFill>
            <a:srgbClr val="2E1505"/>
          </a:solidFill>
          <a:ln w="12700">
            <a:solidFill>
              <a:srgbClr val="D450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79222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7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Convection Coefficient (h)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057400"/>
            <a:ext cx="594360" cy="201168"/>
          </a:xfrm>
          <a:prstGeom prst="rect">
            <a:avLst/>
          </a:prstGeom>
          <a:solidFill>
            <a:srgbClr val="0A4A0A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0756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INCR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097280" y="2057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h → more aggressive surface cooling → faster temperature drop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00600" y="2057400"/>
            <a:ext cx="594360" cy="201168"/>
          </a:xfrm>
          <a:prstGeom prst="rect">
            <a:avLst/>
          </a:prstGeom>
          <a:solidFill>
            <a:srgbClr val="4A0A0A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8888" y="20756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DECR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440680" y="2057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h → weaker cooling → heat penetrates deeper into domain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578608"/>
            <a:ext cx="8503920" cy="749808"/>
          </a:xfrm>
          <a:prstGeom prst="rect">
            <a:avLst/>
          </a:prstGeom>
          <a:solidFill>
            <a:srgbClr val="2E1505"/>
          </a:solidFill>
          <a:ln w="12700">
            <a:solidFill>
              <a:srgbClr val="D450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6151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7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Thickness (t)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2880360"/>
            <a:ext cx="594360" cy="201168"/>
          </a:xfrm>
          <a:prstGeom prst="rect">
            <a:avLst/>
          </a:prstGeom>
          <a:solidFill>
            <a:srgbClr val="0A4A0A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289864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INCR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097280" y="2880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 → scales Kc and Kh proportionally → profile shape unchanged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2880360"/>
            <a:ext cx="594360" cy="201168"/>
          </a:xfrm>
          <a:prstGeom prst="rect">
            <a:avLst/>
          </a:prstGeom>
          <a:solidFill>
            <a:srgbClr val="4A0A0A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18888" y="289864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DECR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440680" y="2880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 → thin plate assumption; same distribution but scaled matrices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401568"/>
            <a:ext cx="8503920" cy="749808"/>
          </a:xfrm>
          <a:prstGeom prst="rect">
            <a:avLst/>
          </a:prstGeom>
          <a:solidFill>
            <a:srgbClr val="2E1505"/>
          </a:solidFill>
          <a:ln w="12700">
            <a:solidFill>
              <a:srgbClr val="D450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4381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7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Temperature (T_b)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57200" y="3703320"/>
            <a:ext cx="594360" cy="201168"/>
          </a:xfrm>
          <a:prstGeom prst="rect">
            <a:avLst/>
          </a:prstGeom>
          <a:solidFill>
            <a:srgbClr val="0A4A0A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3721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INCR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097280" y="3703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T_b → entire domain shifts to higher temperatures uniformly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3703320"/>
            <a:ext cx="594360" cy="201168"/>
          </a:xfrm>
          <a:prstGeom prst="rect">
            <a:avLst/>
          </a:prstGeom>
          <a:solidFill>
            <a:srgbClr val="4A0A0A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18888" y="3721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DECR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440680" y="3703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T_b → cooler domain; ambient convection becomes relatively dominant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4224528"/>
            <a:ext cx="8503920" cy="749808"/>
          </a:xfrm>
          <a:prstGeom prst="rect">
            <a:avLst/>
          </a:prstGeom>
          <a:solidFill>
            <a:srgbClr val="2E1505"/>
          </a:solidFill>
          <a:ln w="12700">
            <a:solidFill>
              <a:srgbClr val="D4500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2611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7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Density (Blocks)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57200" y="4526280"/>
            <a:ext cx="594360" cy="201168"/>
          </a:xfrm>
          <a:prstGeom prst="rect">
            <a:avLst/>
          </a:prstGeom>
          <a:solidFill>
            <a:srgbClr val="0A4A0A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" y="454456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INCR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097280" y="4526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Finer mesh → higher accuracy, captures sharp gradients better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00600" y="4526280"/>
            <a:ext cx="594360" cy="201168"/>
          </a:xfrm>
          <a:prstGeom prst="rect">
            <a:avLst/>
          </a:prstGeom>
          <a:solidFill>
            <a:srgbClr val="4A0A0A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18888" y="454456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DECR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440680" y="4526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Coarser mesh → faster computation, may miss thermal hotspots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A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B1F260-C5EC-C98D-D2D1-7E7075A31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07E823C-0359-D229-D5B4-CD12342166DE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D4500A"/>
          </a:solidFill>
          <a:ln w="12700">
            <a:solidFill>
              <a:srgbClr val="D4500A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2095E32-31A3-032F-0CE2-798E0F7321CC}"/>
              </a:ext>
            </a:extLst>
          </p:cNvPr>
          <p:cNvSpPr/>
          <p:nvPr/>
        </p:nvSpPr>
        <p:spPr>
          <a:xfrm>
            <a:off x="32004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 — Case 01: Electronic Device Cooling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0106503-22CB-C0A4-2946-F94973F34E3D}"/>
              </a:ext>
            </a:extLst>
          </p:cNvPr>
          <p:cNvSpPr/>
          <p:nvPr/>
        </p:nvSpPr>
        <p:spPr>
          <a:xfrm>
            <a:off x="320040" y="548640"/>
            <a:ext cx="6108895" cy="182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400" dirty="0"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FED0EC93-12D7-C476-8111-7500C28C9ED6}"/>
              </a:ext>
            </a:extLst>
          </p:cNvPr>
          <p:cNvSpPr/>
          <p:nvPr/>
        </p:nvSpPr>
        <p:spPr>
          <a:xfrm>
            <a:off x="274320" y="841248"/>
            <a:ext cx="397764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46B92E22-1470-93C6-9763-09F1216EEFEE}"/>
              </a:ext>
            </a:extLst>
          </p:cNvPr>
          <p:cNvSpPr/>
          <p:nvPr/>
        </p:nvSpPr>
        <p:spPr>
          <a:xfrm>
            <a:off x="274320" y="84124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Panel (GUI)</a:t>
            </a:r>
            <a:endParaRPr lang="en-US" sz="1200" dirty="0"/>
          </a:p>
        </p:txBody>
      </p:sp>
      <p:pic>
        <p:nvPicPr>
          <p:cNvPr id="21" name="Image 0" descr="preencoded.png">
            <a:extLst>
              <a:ext uri="{FF2B5EF4-FFF2-40B4-BE49-F238E27FC236}">
                <a16:creationId xmlns:a16="http://schemas.microsoft.com/office/drawing/2014/main" id="{EB38C70E-24AA-205E-981F-EA6B930348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115568"/>
            <a:ext cx="3977640" cy="1005840"/>
          </a:xfrm>
          <a:prstGeom prst="rect">
            <a:avLst/>
          </a:prstGeom>
        </p:spPr>
      </p:pic>
      <p:sp>
        <p:nvSpPr>
          <p:cNvPr id="28" name="Shape 7">
            <a:extLst>
              <a:ext uri="{FF2B5EF4-FFF2-40B4-BE49-F238E27FC236}">
                <a16:creationId xmlns:a16="http://schemas.microsoft.com/office/drawing/2014/main" id="{2072C4CF-3BF3-9AE9-BF50-98DF2FABBEF3}"/>
              </a:ext>
            </a:extLst>
          </p:cNvPr>
          <p:cNvSpPr/>
          <p:nvPr/>
        </p:nvSpPr>
        <p:spPr>
          <a:xfrm>
            <a:off x="274320" y="2212848"/>
            <a:ext cx="3977640" cy="256032"/>
          </a:xfrm>
          <a:prstGeom prst="rect">
            <a:avLst/>
          </a:prstGeom>
          <a:solidFill>
            <a:srgbClr val="1E1E32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381FFEF1-D738-643B-5B9E-E0A4A28839A1}"/>
              </a:ext>
            </a:extLst>
          </p:cNvPr>
          <p:cNvSpPr/>
          <p:nvPr/>
        </p:nvSpPr>
        <p:spPr>
          <a:xfrm>
            <a:off x="274320" y="221284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Parameters</a:t>
            </a:r>
            <a:endParaRPr lang="en-US" sz="1100" dirty="0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EA655781-DBB4-8A7A-785D-4B451AA3DCFB}"/>
              </a:ext>
            </a:extLst>
          </p:cNvPr>
          <p:cNvSpPr/>
          <p:nvPr/>
        </p:nvSpPr>
        <p:spPr>
          <a:xfrm>
            <a:off x="274320" y="2496312"/>
            <a:ext cx="3977640" cy="256032"/>
          </a:xfrm>
          <a:prstGeom prst="rect">
            <a:avLst/>
          </a:prstGeom>
          <a:solidFill>
            <a:srgbClr val="1A1A2C"/>
          </a:solidFill>
          <a:ln w="3810">
            <a:solidFill>
              <a:srgbClr val="C0392B"/>
            </a:solidFill>
            <a:prstDash val="solid"/>
          </a:ln>
        </p:spPr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4856D3E2-5E73-32F9-8371-F74EEF97A17D}"/>
              </a:ext>
            </a:extLst>
          </p:cNvPr>
          <p:cNvSpPr/>
          <p:nvPr/>
        </p:nvSpPr>
        <p:spPr>
          <a:xfrm>
            <a:off x="347472" y="24963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Material:</a:t>
            </a:r>
            <a:endParaRPr lang="en-US" sz="1000" dirty="0"/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19A79A26-3A20-DB34-EEE8-EC012A4DCC91}"/>
              </a:ext>
            </a:extLst>
          </p:cNvPr>
          <p:cNvSpPr/>
          <p:nvPr/>
        </p:nvSpPr>
        <p:spPr>
          <a:xfrm>
            <a:off x="2468880" y="24963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</a:t>
            </a:r>
            <a:endParaRPr lang="en-US" sz="1000" dirty="0"/>
          </a:p>
        </p:txBody>
      </p:sp>
      <p:sp>
        <p:nvSpPr>
          <p:cNvPr id="36" name="Shape 12">
            <a:extLst>
              <a:ext uri="{FF2B5EF4-FFF2-40B4-BE49-F238E27FC236}">
                <a16:creationId xmlns:a16="http://schemas.microsoft.com/office/drawing/2014/main" id="{59F959D2-AEF7-38D4-D730-64B4D15F1311}"/>
              </a:ext>
            </a:extLst>
          </p:cNvPr>
          <p:cNvSpPr/>
          <p:nvPr/>
        </p:nvSpPr>
        <p:spPr>
          <a:xfrm>
            <a:off x="274320" y="2779776"/>
            <a:ext cx="3977640" cy="256032"/>
          </a:xfrm>
          <a:prstGeom prst="rect">
            <a:avLst/>
          </a:prstGeom>
          <a:solidFill>
            <a:srgbClr val="1E1E32"/>
          </a:solidFill>
          <a:ln w="3810">
            <a:solidFill>
              <a:srgbClr val="C0392B"/>
            </a:solidFill>
            <a:prstDash val="solid"/>
          </a:ln>
        </p:spPr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2A8805E9-26A1-947C-C4E8-34083161C4A6}"/>
              </a:ext>
            </a:extLst>
          </p:cNvPr>
          <p:cNvSpPr/>
          <p:nvPr/>
        </p:nvSpPr>
        <p:spPr>
          <a:xfrm>
            <a:off x="347472" y="27797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Conductivity:</a:t>
            </a:r>
            <a:endParaRPr lang="en-US" sz="1000" dirty="0"/>
          </a:p>
        </p:txBody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E7EDDE97-3F11-0EDE-61F0-ED2344AA8177}"/>
              </a:ext>
            </a:extLst>
          </p:cNvPr>
          <p:cNvSpPr/>
          <p:nvPr/>
        </p:nvSpPr>
        <p:spPr>
          <a:xfrm>
            <a:off x="2468880" y="277977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148 W/(m·K)</a:t>
            </a:r>
            <a:endParaRPr lang="en-US" sz="1000" dirty="0"/>
          </a:p>
        </p:txBody>
      </p:sp>
      <p:sp>
        <p:nvSpPr>
          <p:cNvPr id="39" name="Shape 15">
            <a:extLst>
              <a:ext uri="{FF2B5EF4-FFF2-40B4-BE49-F238E27FC236}">
                <a16:creationId xmlns:a16="http://schemas.microsoft.com/office/drawing/2014/main" id="{6280546F-708A-5CD8-A96B-9DE6F6EF3CEE}"/>
              </a:ext>
            </a:extLst>
          </p:cNvPr>
          <p:cNvSpPr/>
          <p:nvPr/>
        </p:nvSpPr>
        <p:spPr>
          <a:xfrm>
            <a:off x="274320" y="3063240"/>
            <a:ext cx="3977640" cy="256032"/>
          </a:xfrm>
          <a:prstGeom prst="rect">
            <a:avLst/>
          </a:prstGeom>
          <a:solidFill>
            <a:srgbClr val="1A1A2C"/>
          </a:solidFill>
          <a:ln w="3810">
            <a:solidFill>
              <a:srgbClr val="C0392B"/>
            </a:solidFill>
            <a:prstDash val="solid"/>
          </a:ln>
        </p:spPr>
      </p:sp>
      <p:sp>
        <p:nvSpPr>
          <p:cNvPr id="40" name="Text 16">
            <a:extLst>
              <a:ext uri="{FF2B5EF4-FFF2-40B4-BE49-F238E27FC236}">
                <a16:creationId xmlns:a16="http://schemas.microsoft.com/office/drawing/2014/main" id="{F59B6534-B5AC-189E-B5C0-79B3C6772245}"/>
              </a:ext>
            </a:extLst>
          </p:cNvPr>
          <p:cNvSpPr/>
          <p:nvPr/>
        </p:nvSpPr>
        <p:spPr>
          <a:xfrm>
            <a:off x="347472" y="30632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Convection Coeff.:</a:t>
            </a:r>
            <a:endParaRPr lang="en-US" sz="1000" dirty="0"/>
          </a:p>
        </p:txBody>
      </p:sp>
      <p:sp>
        <p:nvSpPr>
          <p:cNvPr id="41" name="Text 17">
            <a:extLst>
              <a:ext uri="{FF2B5EF4-FFF2-40B4-BE49-F238E27FC236}">
                <a16:creationId xmlns:a16="http://schemas.microsoft.com/office/drawing/2014/main" id="{70EB9662-F4B6-8D28-9DB7-DF2F847C36E7}"/>
              </a:ext>
            </a:extLst>
          </p:cNvPr>
          <p:cNvSpPr/>
          <p:nvPr/>
        </p:nvSpPr>
        <p:spPr>
          <a:xfrm>
            <a:off x="2468880" y="306324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250 W/(m²·K)</a:t>
            </a:r>
            <a:endParaRPr lang="en-US" sz="1000" dirty="0"/>
          </a:p>
        </p:txBody>
      </p:sp>
      <p:sp>
        <p:nvSpPr>
          <p:cNvPr id="42" name="Shape 18">
            <a:extLst>
              <a:ext uri="{FF2B5EF4-FFF2-40B4-BE49-F238E27FC236}">
                <a16:creationId xmlns:a16="http://schemas.microsoft.com/office/drawing/2014/main" id="{E4279B55-9011-49AC-5BE8-AB0AD4E2CDD0}"/>
              </a:ext>
            </a:extLst>
          </p:cNvPr>
          <p:cNvSpPr/>
          <p:nvPr/>
        </p:nvSpPr>
        <p:spPr>
          <a:xfrm>
            <a:off x="274320" y="3346704"/>
            <a:ext cx="3977640" cy="256032"/>
          </a:xfrm>
          <a:prstGeom prst="rect">
            <a:avLst/>
          </a:prstGeom>
          <a:solidFill>
            <a:srgbClr val="1E1E32"/>
          </a:solidFill>
          <a:ln w="3810">
            <a:solidFill>
              <a:srgbClr val="C0392B"/>
            </a:solidFill>
            <a:prstDash val="solid"/>
          </a:ln>
        </p:spPr>
      </p:sp>
      <p:sp>
        <p:nvSpPr>
          <p:cNvPr id="43" name="Text 19">
            <a:extLst>
              <a:ext uri="{FF2B5EF4-FFF2-40B4-BE49-F238E27FC236}">
                <a16:creationId xmlns:a16="http://schemas.microsoft.com/office/drawing/2014/main" id="{2613A1CD-4B32-0151-C5CD-418E44DE5296}"/>
              </a:ext>
            </a:extLst>
          </p:cNvPr>
          <p:cNvSpPr/>
          <p:nvPr/>
        </p:nvSpPr>
        <p:spPr>
          <a:xfrm>
            <a:off x="347472" y="33467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Temperature:</a:t>
            </a:r>
            <a:endParaRPr lang="en-US" sz="1000" dirty="0"/>
          </a:p>
        </p:txBody>
      </p:sp>
      <p:sp>
        <p:nvSpPr>
          <p:cNvPr id="44" name="Text 20">
            <a:extLst>
              <a:ext uri="{FF2B5EF4-FFF2-40B4-BE49-F238E27FC236}">
                <a16:creationId xmlns:a16="http://schemas.microsoft.com/office/drawing/2014/main" id="{97EB8F01-65F1-838C-D4D9-A173F4D6CF81}"/>
              </a:ext>
            </a:extLst>
          </p:cNvPr>
          <p:cNvSpPr/>
          <p:nvPr/>
        </p:nvSpPr>
        <p:spPr>
          <a:xfrm>
            <a:off x="2468880" y="334670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T_base = 85°C</a:t>
            </a:r>
            <a:endParaRPr lang="en-US" sz="1000" dirty="0"/>
          </a:p>
        </p:txBody>
      </p:sp>
      <p:sp>
        <p:nvSpPr>
          <p:cNvPr id="45" name="Shape 21">
            <a:extLst>
              <a:ext uri="{FF2B5EF4-FFF2-40B4-BE49-F238E27FC236}">
                <a16:creationId xmlns:a16="http://schemas.microsoft.com/office/drawing/2014/main" id="{32BBE48F-0090-B98E-D0B5-101A277DF152}"/>
              </a:ext>
            </a:extLst>
          </p:cNvPr>
          <p:cNvSpPr/>
          <p:nvPr/>
        </p:nvSpPr>
        <p:spPr>
          <a:xfrm>
            <a:off x="274320" y="3630168"/>
            <a:ext cx="3977640" cy="256032"/>
          </a:xfrm>
          <a:prstGeom prst="rect">
            <a:avLst/>
          </a:prstGeom>
          <a:solidFill>
            <a:srgbClr val="1A1A2C"/>
          </a:solidFill>
          <a:ln w="3810">
            <a:solidFill>
              <a:srgbClr val="C0392B"/>
            </a:solidFill>
            <a:prstDash val="solid"/>
          </a:ln>
        </p:spPr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3D978C66-3294-4E0D-ABF2-167079ABB495}"/>
              </a:ext>
            </a:extLst>
          </p:cNvPr>
          <p:cNvSpPr/>
          <p:nvPr/>
        </p:nvSpPr>
        <p:spPr>
          <a:xfrm>
            <a:off x="347472" y="36301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Temp.:</a:t>
            </a:r>
            <a:endParaRPr lang="en-US" sz="1000" dirty="0"/>
          </a:p>
        </p:txBody>
      </p:sp>
      <p:sp>
        <p:nvSpPr>
          <p:cNvPr id="47" name="Text 23">
            <a:extLst>
              <a:ext uri="{FF2B5EF4-FFF2-40B4-BE49-F238E27FC236}">
                <a16:creationId xmlns:a16="http://schemas.microsoft.com/office/drawing/2014/main" id="{56A5845F-C4CD-ADD3-927C-E656A0CEA3FE}"/>
              </a:ext>
            </a:extLst>
          </p:cNvPr>
          <p:cNvSpPr/>
          <p:nvPr/>
        </p:nvSpPr>
        <p:spPr>
          <a:xfrm>
            <a:off x="2468880" y="36301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T_ambient = 25°C</a:t>
            </a:r>
            <a:endParaRPr lang="en-US" sz="1000" dirty="0"/>
          </a:p>
        </p:txBody>
      </p:sp>
      <p:sp>
        <p:nvSpPr>
          <p:cNvPr id="48" name="Shape 24">
            <a:extLst>
              <a:ext uri="{FF2B5EF4-FFF2-40B4-BE49-F238E27FC236}">
                <a16:creationId xmlns:a16="http://schemas.microsoft.com/office/drawing/2014/main" id="{3E669DA2-FE0B-0643-F7B7-1FC856317086}"/>
              </a:ext>
            </a:extLst>
          </p:cNvPr>
          <p:cNvSpPr/>
          <p:nvPr/>
        </p:nvSpPr>
        <p:spPr>
          <a:xfrm>
            <a:off x="274320" y="3913632"/>
            <a:ext cx="3977640" cy="256032"/>
          </a:xfrm>
          <a:prstGeom prst="rect">
            <a:avLst/>
          </a:prstGeom>
          <a:solidFill>
            <a:srgbClr val="1E1E32"/>
          </a:solidFill>
          <a:ln w="3810">
            <a:solidFill>
              <a:srgbClr val="C0392B"/>
            </a:solidFill>
            <a:prstDash val="solid"/>
          </a:ln>
        </p:spPr>
      </p:sp>
      <p:sp>
        <p:nvSpPr>
          <p:cNvPr id="49" name="Text 25">
            <a:extLst>
              <a:ext uri="{FF2B5EF4-FFF2-40B4-BE49-F238E27FC236}">
                <a16:creationId xmlns:a16="http://schemas.microsoft.com/office/drawing/2014/main" id="{DAA4029C-2017-91C2-FD0C-F7AAA5416E99}"/>
              </a:ext>
            </a:extLst>
          </p:cNvPr>
          <p:cNvSpPr/>
          <p:nvPr/>
        </p:nvSpPr>
        <p:spPr>
          <a:xfrm>
            <a:off x="347472" y="39136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Size:</a:t>
            </a:r>
            <a:endParaRPr lang="en-US" sz="1000" dirty="0"/>
          </a:p>
        </p:txBody>
      </p:sp>
      <p:sp>
        <p:nvSpPr>
          <p:cNvPr id="53" name="Text 26">
            <a:extLst>
              <a:ext uri="{FF2B5EF4-FFF2-40B4-BE49-F238E27FC236}">
                <a16:creationId xmlns:a16="http://schemas.microsoft.com/office/drawing/2014/main" id="{60E1C900-A2B3-1D65-5F4D-80AE1A1EAC47}"/>
              </a:ext>
            </a:extLst>
          </p:cNvPr>
          <p:cNvSpPr/>
          <p:nvPr/>
        </p:nvSpPr>
        <p:spPr>
          <a:xfrm>
            <a:off x="2468880" y="39136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mm × 10 mm chip</a:t>
            </a:r>
            <a:endParaRPr lang="en-US" sz="1000" dirty="0"/>
          </a:p>
        </p:txBody>
      </p:sp>
      <p:sp>
        <p:nvSpPr>
          <p:cNvPr id="54" name="Shape 27">
            <a:extLst>
              <a:ext uri="{FF2B5EF4-FFF2-40B4-BE49-F238E27FC236}">
                <a16:creationId xmlns:a16="http://schemas.microsoft.com/office/drawing/2014/main" id="{71CEC678-3C79-8EE5-4805-4A67BF506D1E}"/>
              </a:ext>
            </a:extLst>
          </p:cNvPr>
          <p:cNvSpPr/>
          <p:nvPr/>
        </p:nvSpPr>
        <p:spPr>
          <a:xfrm>
            <a:off x="274320" y="4197096"/>
            <a:ext cx="3977640" cy="256032"/>
          </a:xfrm>
          <a:prstGeom prst="rect">
            <a:avLst/>
          </a:prstGeom>
          <a:solidFill>
            <a:srgbClr val="1A1A2C"/>
          </a:solidFill>
          <a:ln w="3810">
            <a:solidFill>
              <a:srgbClr val="C0392B"/>
            </a:solidFill>
            <a:prstDash val="solid"/>
          </a:ln>
        </p:spPr>
      </p:sp>
      <p:sp>
        <p:nvSpPr>
          <p:cNvPr id="55" name="Text 28">
            <a:extLst>
              <a:ext uri="{FF2B5EF4-FFF2-40B4-BE49-F238E27FC236}">
                <a16:creationId xmlns:a16="http://schemas.microsoft.com/office/drawing/2014/main" id="{C6437EB1-C6E3-7CFF-F019-2D9D47AE68AB}"/>
              </a:ext>
            </a:extLst>
          </p:cNvPr>
          <p:cNvSpPr/>
          <p:nvPr/>
        </p:nvSpPr>
        <p:spPr>
          <a:xfrm>
            <a:off x="347472" y="419709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BC: Bottom edge:</a:t>
            </a:r>
            <a:endParaRPr lang="en-US" sz="1000" dirty="0"/>
          </a:p>
        </p:txBody>
      </p:sp>
      <p:sp>
        <p:nvSpPr>
          <p:cNvPr id="56" name="Text 29">
            <a:extLst>
              <a:ext uri="{FF2B5EF4-FFF2-40B4-BE49-F238E27FC236}">
                <a16:creationId xmlns:a16="http://schemas.microsoft.com/office/drawing/2014/main" id="{195D5DD4-A073-225E-4247-115B883AAB87}"/>
              </a:ext>
            </a:extLst>
          </p:cNvPr>
          <p:cNvSpPr/>
          <p:nvPr/>
        </p:nvSpPr>
        <p:spPr>
          <a:xfrm>
            <a:off x="2468880" y="41970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 = 85°C (heat source)</a:t>
            </a:r>
            <a:endParaRPr lang="en-US" sz="1000" dirty="0"/>
          </a:p>
        </p:txBody>
      </p:sp>
      <p:sp>
        <p:nvSpPr>
          <p:cNvPr id="57" name="Shape 30">
            <a:extLst>
              <a:ext uri="{FF2B5EF4-FFF2-40B4-BE49-F238E27FC236}">
                <a16:creationId xmlns:a16="http://schemas.microsoft.com/office/drawing/2014/main" id="{682D202D-3AE4-C459-C08E-C35A9A075FFF}"/>
              </a:ext>
            </a:extLst>
          </p:cNvPr>
          <p:cNvSpPr/>
          <p:nvPr/>
        </p:nvSpPr>
        <p:spPr>
          <a:xfrm>
            <a:off x="274320" y="4480560"/>
            <a:ext cx="3977640" cy="256032"/>
          </a:xfrm>
          <a:prstGeom prst="rect">
            <a:avLst/>
          </a:prstGeom>
          <a:solidFill>
            <a:srgbClr val="1E1E32"/>
          </a:solidFill>
          <a:ln w="3810">
            <a:solidFill>
              <a:srgbClr val="C0392B"/>
            </a:solidFill>
            <a:prstDash val="solid"/>
          </a:ln>
        </p:spPr>
      </p:sp>
      <p:sp>
        <p:nvSpPr>
          <p:cNvPr id="58" name="Text 31">
            <a:extLst>
              <a:ext uri="{FF2B5EF4-FFF2-40B4-BE49-F238E27FC236}">
                <a16:creationId xmlns:a16="http://schemas.microsoft.com/office/drawing/2014/main" id="{1455F937-E474-0F93-20D1-C8274B0630DA}"/>
              </a:ext>
            </a:extLst>
          </p:cNvPr>
          <p:cNvSpPr/>
          <p:nvPr/>
        </p:nvSpPr>
        <p:spPr>
          <a:xfrm>
            <a:off x="347472" y="44805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BC: Top/Left/Right:</a:t>
            </a:r>
            <a:endParaRPr lang="en-US" sz="1000" dirty="0"/>
          </a:p>
        </p:txBody>
      </p:sp>
      <p:sp>
        <p:nvSpPr>
          <p:cNvPr id="59" name="Text 32">
            <a:extLst>
              <a:ext uri="{FF2B5EF4-FFF2-40B4-BE49-F238E27FC236}">
                <a16:creationId xmlns:a16="http://schemas.microsoft.com/office/drawing/2014/main" id="{F6EE92FD-A024-04C1-D871-986AF695EF0B}"/>
              </a:ext>
            </a:extLst>
          </p:cNvPr>
          <p:cNvSpPr/>
          <p:nvPr/>
        </p:nvSpPr>
        <p:spPr>
          <a:xfrm>
            <a:off x="2468880" y="44805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Convection h=250, T=25°C</a:t>
            </a:r>
            <a:endParaRPr lang="en-US" sz="1000" dirty="0"/>
          </a:p>
        </p:txBody>
      </p:sp>
      <p:sp>
        <p:nvSpPr>
          <p:cNvPr id="60" name="Shape 33">
            <a:extLst>
              <a:ext uri="{FF2B5EF4-FFF2-40B4-BE49-F238E27FC236}">
                <a16:creationId xmlns:a16="http://schemas.microsoft.com/office/drawing/2014/main" id="{E34429A6-C4DF-AE83-982C-4E55AD64A796}"/>
              </a:ext>
            </a:extLst>
          </p:cNvPr>
          <p:cNvSpPr/>
          <p:nvPr/>
        </p:nvSpPr>
        <p:spPr>
          <a:xfrm>
            <a:off x="4434840" y="841248"/>
            <a:ext cx="4434840" cy="256032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61" name="Text 34">
            <a:extLst>
              <a:ext uri="{FF2B5EF4-FFF2-40B4-BE49-F238E27FC236}">
                <a16:creationId xmlns:a16="http://schemas.microsoft.com/office/drawing/2014/main" id="{42A67A6A-5D03-8885-A046-A82FD6D09510}"/>
              </a:ext>
            </a:extLst>
          </p:cNvPr>
          <p:cNvSpPr/>
          <p:nvPr/>
        </p:nvSpPr>
        <p:spPr>
          <a:xfrm>
            <a:off x="4434840" y="841248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Distribution (T_max=85.0°C, T_min=83.2°C)</a:t>
            </a:r>
            <a:endParaRPr lang="en-US" sz="1050" dirty="0"/>
          </a:p>
        </p:txBody>
      </p:sp>
      <p:pic>
        <p:nvPicPr>
          <p:cNvPr id="62" name="Image 1" descr="preencoded.png">
            <a:extLst>
              <a:ext uri="{FF2B5EF4-FFF2-40B4-BE49-F238E27FC236}">
                <a16:creationId xmlns:a16="http://schemas.microsoft.com/office/drawing/2014/main" id="{DDCBBCDB-2A0C-0A43-CE3F-24AD471B8D7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34840" y="1115568"/>
            <a:ext cx="4434840" cy="2788920"/>
          </a:xfrm>
          <a:prstGeom prst="rect">
            <a:avLst/>
          </a:prstGeom>
        </p:spPr>
      </p:pic>
      <p:sp>
        <p:nvSpPr>
          <p:cNvPr id="63" name="Shape 35">
            <a:extLst>
              <a:ext uri="{FF2B5EF4-FFF2-40B4-BE49-F238E27FC236}">
                <a16:creationId xmlns:a16="http://schemas.microsoft.com/office/drawing/2014/main" id="{C422FD2F-BCCC-5387-6EB7-C7675C567A63}"/>
              </a:ext>
            </a:extLst>
          </p:cNvPr>
          <p:cNvSpPr/>
          <p:nvPr/>
        </p:nvSpPr>
        <p:spPr>
          <a:xfrm>
            <a:off x="4434840" y="3977640"/>
            <a:ext cx="4434840" cy="594360"/>
          </a:xfrm>
          <a:prstGeom prst="rect">
            <a:avLst/>
          </a:prstGeom>
          <a:solidFill>
            <a:srgbClr val="1E1E32"/>
          </a:solidFill>
          <a:ln w="9525">
            <a:solidFill>
              <a:srgbClr val="148F77"/>
            </a:solidFill>
            <a:prstDash val="solid"/>
          </a:ln>
        </p:spPr>
      </p:sp>
      <p:sp>
        <p:nvSpPr>
          <p:cNvPr id="64" name="Text 36">
            <a:extLst>
              <a:ext uri="{FF2B5EF4-FFF2-40B4-BE49-F238E27FC236}">
                <a16:creationId xmlns:a16="http://schemas.microsoft.com/office/drawing/2014/main" id="{AC80AEBA-1DE8-252D-E884-5B501C5DE970}"/>
              </a:ext>
            </a:extLst>
          </p:cNvPr>
          <p:cNvSpPr/>
          <p:nvPr/>
        </p:nvSpPr>
        <p:spPr>
          <a:xfrm>
            <a:off x="4498848" y="3995928"/>
            <a:ext cx="4306824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DE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flows radially from chip base (y=0). High conductivity silicon allows rapid thermal spreading. Convection on top/sides cools the device. Very small temperature gradient (ΔT ≈ 1.8°C) confirms efficient thermal management.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229174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A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D2A977-CFE0-AD49-0EE5-E6AD960EE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4E028C2-C042-6732-425D-B51B95FC2C6C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D4500A"/>
          </a:solidFill>
          <a:ln w="12700">
            <a:solidFill>
              <a:srgbClr val="D4500A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504B08C-2126-2BF9-D90F-9E5D5DEEC4E6}"/>
              </a:ext>
            </a:extLst>
          </p:cNvPr>
          <p:cNvSpPr/>
          <p:nvPr/>
        </p:nvSpPr>
        <p:spPr>
          <a:xfrm>
            <a:off x="32004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 — Case 02: Building Wall Heating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1823BA3-9A8C-27EF-E91A-71F4EE8621B4}"/>
              </a:ext>
            </a:extLst>
          </p:cNvPr>
          <p:cNvSpPr/>
          <p:nvPr/>
        </p:nvSpPr>
        <p:spPr>
          <a:xfrm>
            <a:off x="320040" y="548640"/>
            <a:ext cx="6108895" cy="182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400" dirty="0"/>
          </a:p>
        </p:txBody>
      </p:sp>
      <p:sp>
        <p:nvSpPr>
          <p:cNvPr id="73" name="Shape 5">
            <a:extLst>
              <a:ext uri="{FF2B5EF4-FFF2-40B4-BE49-F238E27FC236}">
                <a16:creationId xmlns:a16="http://schemas.microsoft.com/office/drawing/2014/main" id="{C233BCD3-CEFB-DCC0-6DE1-ADDC43157838}"/>
              </a:ext>
            </a:extLst>
          </p:cNvPr>
          <p:cNvSpPr/>
          <p:nvPr/>
        </p:nvSpPr>
        <p:spPr>
          <a:xfrm>
            <a:off x="274320" y="841248"/>
            <a:ext cx="3977640" cy="256032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74" name="Text 6">
            <a:extLst>
              <a:ext uri="{FF2B5EF4-FFF2-40B4-BE49-F238E27FC236}">
                <a16:creationId xmlns:a16="http://schemas.microsoft.com/office/drawing/2014/main" id="{8A6DDAC5-3473-168A-4EFA-AC0A90E113C7}"/>
              </a:ext>
            </a:extLst>
          </p:cNvPr>
          <p:cNvSpPr/>
          <p:nvPr/>
        </p:nvSpPr>
        <p:spPr>
          <a:xfrm>
            <a:off x="274320" y="84124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Panel (GUI)</a:t>
            </a:r>
            <a:endParaRPr lang="en-US" sz="1200" dirty="0"/>
          </a:p>
        </p:txBody>
      </p:sp>
      <p:pic>
        <p:nvPicPr>
          <p:cNvPr id="75" name="Image 0" descr="preencoded.png">
            <a:extLst>
              <a:ext uri="{FF2B5EF4-FFF2-40B4-BE49-F238E27FC236}">
                <a16:creationId xmlns:a16="http://schemas.microsoft.com/office/drawing/2014/main" id="{311790A3-1B96-5FCA-2A82-43EBB98AEC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115568"/>
            <a:ext cx="3977640" cy="1005840"/>
          </a:xfrm>
          <a:prstGeom prst="rect">
            <a:avLst/>
          </a:prstGeom>
        </p:spPr>
      </p:pic>
      <p:sp>
        <p:nvSpPr>
          <p:cNvPr id="76" name="Shape 7">
            <a:extLst>
              <a:ext uri="{FF2B5EF4-FFF2-40B4-BE49-F238E27FC236}">
                <a16:creationId xmlns:a16="http://schemas.microsoft.com/office/drawing/2014/main" id="{B579E4BD-CE76-B35E-DCCA-5B3024C7CAD3}"/>
              </a:ext>
            </a:extLst>
          </p:cNvPr>
          <p:cNvSpPr/>
          <p:nvPr/>
        </p:nvSpPr>
        <p:spPr>
          <a:xfrm>
            <a:off x="274320" y="2212848"/>
            <a:ext cx="3977640" cy="256032"/>
          </a:xfrm>
          <a:prstGeom prst="rect">
            <a:avLst/>
          </a:prstGeom>
          <a:solidFill>
            <a:srgbClr val="1E1E32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77" name="Text 8">
            <a:extLst>
              <a:ext uri="{FF2B5EF4-FFF2-40B4-BE49-F238E27FC236}">
                <a16:creationId xmlns:a16="http://schemas.microsoft.com/office/drawing/2014/main" id="{D5162336-80E8-A96C-4832-3B750574B948}"/>
              </a:ext>
            </a:extLst>
          </p:cNvPr>
          <p:cNvSpPr/>
          <p:nvPr/>
        </p:nvSpPr>
        <p:spPr>
          <a:xfrm>
            <a:off x="274320" y="221284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Parameters</a:t>
            </a:r>
            <a:endParaRPr lang="en-US" sz="1100" dirty="0"/>
          </a:p>
        </p:txBody>
      </p:sp>
      <p:sp>
        <p:nvSpPr>
          <p:cNvPr id="78" name="Shape 9">
            <a:extLst>
              <a:ext uri="{FF2B5EF4-FFF2-40B4-BE49-F238E27FC236}">
                <a16:creationId xmlns:a16="http://schemas.microsoft.com/office/drawing/2014/main" id="{C9A2AC4E-37D9-E1FC-5368-2B3F5B2C31D6}"/>
              </a:ext>
            </a:extLst>
          </p:cNvPr>
          <p:cNvSpPr/>
          <p:nvPr/>
        </p:nvSpPr>
        <p:spPr>
          <a:xfrm>
            <a:off x="274320" y="2496312"/>
            <a:ext cx="3977640" cy="256032"/>
          </a:xfrm>
          <a:prstGeom prst="rect">
            <a:avLst/>
          </a:prstGeom>
          <a:solidFill>
            <a:srgbClr val="1A1A2C"/>
          </a:solidFill>
          <a:ln w="3810">
            <a:solidFill>
              <a:srgbClr val="1F618D"/>
            </a:solidFill>
            <a:prstDash val="solid"/>
          </a:ln>
        </p:spPr>
      </p:sp>
      <p:sp>
        <p:nvSpPr>
          <p:cNvPr id="79" name="Text 10">
            <a:extLst>
              <a:ext uri="{FF2B5EF4-FFF2-40B4-BE49-F238E27FC236}">
                <a16:creationId xmlns:a16="http://schemas.microsoft.com/office/drawing/2014/main" id="{BC3C4064-2937-EB5D-4157-3142A4E06620}"/>
              </a:ext>
            </a:extLst>
          </p:cNvPr>
          <p:cNvSpPr/>
          <p:nvPr/>
        </p:nvSpPr>
        <p:spPr>
          <a:xfrm>
            <a:off x="347472" y="24963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Material:</a:t>
            </a:r>
            <a:endParaRPr lang="en-US" sz="1000" dirty="0"/>
          </a:p>
        </p:txBody>
      </p:sp>
      <p:sp>
        <p:nvSpPr>
          <p:cNvPr id="80" name="Text 11">
            <a:extLst>
              <a:ext uri="{FF2B5EF4-FFF2-40B4-BE49-F238E27FC236}">
                <a16:creationId xmlns:a16="http://schemas.microsoft.com/office/drawing/2014/main" id="{C25E2B1C-7C0D-A932-3CC4-AB4DCA4605FA}"/>
              </a:ext>
            </a:extLst>
          </p:cNvPr>
          <p:cNvSpPr/>
          <p:nvPr/>
        </p:nvSpPr>
        <p:spPr>
          <a:xfrm>
            <a:off x="2468880" y="24963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</a:t>
            </a:r>
            <a:endParaRPr lang="en-US" sz="1000" dirty="0"/>
          </a:p>
        </p:txBody>
      </p:sp>
      <p:sp>
        <p:nvSpPr>
          <p:cNvPr id="81" name="Shape 12">
            <a:extLst>
              <a:ext uri="{FF2B5EF4-FFF2-40B4-BE49-F238E27FC236}">
                <a16:creationId xmlns:a16="http://schemas.microsoft.com/office/drawing/2014/main" id="{5479DC64-BBEC-8F23-982E-65638F3B43BC}"/>
              </a:ext>
            </a:extLst>
          </p:cNvPr>
          <p:cNvSpPr/>
          <p:nvPr/>
        </p:nvSpPr>
        <p:spPr>
          <a:xfrm>
            <a:off x="274320" y="2779776"/>
            <a:ext cx="3977640" cy="256032"/>
          </a:xfrm>
          <a:prstGeom prst="rect">
            <a:avLst/>
          </a:prstGeom>
          <a:solidFill>
            <a:srgbClr val="1E1E32"/>
          </a:solidFill>
          <a:ln w="3810">
            <a:solidFill>
              <a:srgbClr val="1F618D"/>
            </a:solidFill>
            <a:prstDash val="solid"/>
          </a:ln>
        </p:spPr>
      </p:sp>
      <p:sp>
        <p:nvSpPr>
          <p:cNvPr id="82" name="Text 13">
            <a:extLst>
              <a:ext uri="{FF2B5EF4-FFF2-40B4-BE49-F238E27FC236}">
                <a16:creationId xmlns:a16="http://schemas.microsoft.com/office/drawing/2014/main" id="{B8C8BEA1-6706-032E-A9A4-92D2B8333CE2}"/>
              </a:ext>
            </a:extLst>
          </p:cNvPr>
          <p:cNvSpPr/>
          <p:nvPr/>
        </p:nvSpPr>
        <p:spPr>
          <a:xfrm>
            <a:off x="347472" y="27797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Conductivity:</a:t>
            </a:r>
            <a:endParaRPr lang="en-US" sz="1000" dirty="0"/>
          </a:p>
        </p:txBody>
      </p:sp>
      <p:sp>
        <p:nvSpPr>
          <p:cNvPr id="83" name="Text 14">
            <a:extLst>
              <a:ext uri="{FF2B5EF4-FFF2-40B4-BE49-F238E27FC236}">
                <a16:creationId xmlns:a16="http://schemas.microsoft.com/office/drawing/2014/main" id="{1D06AD6A-266D-0E51-8DD2-66375CE69A1E}"/>
              </a:ext>
            </a:extLst>
          </p:cNvPr>
          <p:cNvSpPr/>
          <p:nvPr/>
        </p:nvSpPr>
        <p:spPr>
          <a:xfrm>
            <a:off x="2468880" y="277977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1.7 W/(m·K)</a:t>
            </a:r>
            <a:endParaRPr lang="en-US" sz="1000" dirty="0"/>
          </a:p>
        </p:txBody>
      </p:sp>
      <p:sp>
        <p:nvSpPr>
          <p:cNvPr id="84" name="Shape 15">
            <a:extLst>
              <a:ext uri="{FF2B5EF4-FFF2-40B4-BE49-F238E27FC236}">
                <a16:creationId xmlns:a16="http://schemas.microsoft.com/office/drawing/2014/main" id="{5D9F08F6-1A45-E411-BEA5-5EF6A10C5197}"/>
              </a:ext>
            </a:extLst>
          </p:cNvPr>
          <p:cNvSpPr/>
          <p:nvPr/>
        </p:nvSpPr>
        <p:spPr>
          <a:xfrm>
            <a:off x="274320" y="3063240"/>
            <a:ext cx="3977640" cy="256032"/>
          </a:xfrm>
          <a:prstGeom prst="rect">
            <a:avLst/>
          </a:prstGeom>
          <a:solidFill>
            <a:srgbClr val="1A1A2C"/>
          </a:solidFill>
          <a:ln w="3810">
            <a:solidFill>
              <a:srgbClr val="1F618D"/>
            </a:solidFill>
            <a:prstDash val="solid"/>
          </a:ln>
        </p:spPr>
      </p:sp>
      <p:sp>
        <p:nvSpPr>
          <p:cNvPr id="85" name="Text 16">
            <a:extLst>
              <a:ext uri="{FF2B5EF4-FFF2-40B4-BE49-F238E27FC236}">
                <a16:creationId xmlns:a16="http://schemas.microsoft.com/office/drawing/2014/main" id="{0B5472A4-F783-7EC6-E519-CA5BB6D5B1B0}"/>
              </a:ext>
            </a:extLst>
          </p:cNvPr>
          <p:cNvSpPr/>
          <p:nvPr/>
        </p:nvSpPr>
        <p:spPr>
          <a:xfrm>
            <a:off x="347472" y="30632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Ext. Convection Coeff.:</a:t>
            </a:r>
            <a:endParaRPr lang="en-US" sz="1000" dirty="0"/>
          </a:p>
        </p:txBody>
      </p:sp>
      <p:sp>
        <p:nvSpPr>
          <p:cNvPr id="86" name="Text 17">
            <a:extLst>
              <a:ext uri="{FF2B5EF4-FFF2-40B4-BE49-F238E27FC236}">
                <a16:creationId xmlns:a16="http://schemas.microsoft.com/office/drawing/2014/main" id="{8C3FE917-8A66-1F7E-12E1-A6B1429B5929}"/>
              </a:ext>
            </a:extLst>
          </p:cNvPr>
          <p:cNvSpPr/>
          <p:nvPr/>
        </p:nvSpPr>
        <p:spPr>
          <a:xfrm>
            <a:off x="2468880" y="306324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h_ext = 20 W/(m²·K)</a:t>
            </a:r>
            <a:endParaRPr lang="en-US" sz="1000" dirty="0"/>
          </a:p>
        </p:txBody>
      </p:sp>
      <p:sp>
        <p:nvSpPr>
          <p:cNvPr id="87" name="Shape 18">
            <a:extLst>
              <a:ext uri="{FF2B5EF4-FFF2-40B4-BE49-F238E27FC236}">
                <a16:creationId xmlns:a16="http://schemas.microsoft.com/office/drawing/2014/main" id="{82DD5930-3235-2377-18DE-EF445BC86963}"/>
              </a:ext>
            </a:extLst>
          </p:cNvPr>
          <p:cNvSpPr/>
          <p:nvPr/>
        </p:nvSpPr>
        <p:spPr>
          <a:xfrm>
            <a:off x="274320" y="3346704"/>
            <a:ext cx="3977640" cy="256032"/>
          </a:xfrm>
          <a:prstGeom prst="rect">
            <a:avLst/>
          </a:prstGeom>
          <a:solidFill>
            <a:srgbClr val="1E1E32"/>
          </a:solidFill>
          <a:ln w="3810">
            <a:solidFill>
              <a:srgbClr val="1F618D"/>
            </a:solidFill>
            <a:prstDash val="solid"/>
          </a:ln>
        </p:spPr>
      </p:sp>
      <p:sp>
        <p:nvSpPr>
          <p:cNvPr id="88" name="Text 19">
            <a:extLst>
              <a:ext uri="{FF2B5EF4-FFF2-40B4-BE49-F238E27FC236}">
                <a16:creationId xmlns:a16="http://schemas.microsoft.com/office/drawing/2014/main" id="{1228E69F-05EC-C6D8-7EAC-3E68396B88D7}"/>
              </a:ext>
            </a:extLst>
          </p:cNvPr>
          <p:cNvSpPr/>
          <p:nvPr/>
        </p:nvSpPr>
        <p:spPr>
          <a:xfrm>
            <a:off x="347472" y="33467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 Temperature:</a:t>
            </a:r>
            <a:endParaRPr lang="en-US" sz="1000" dirty="0"/>
          </a:p>
        </p:txBody>
      </p:sp>
      <p:sp>
        <p:nvSpPr>
          <p:cNvPr id="89" name="Text 20">
            <a:extLst>
              <a:ext uri="{FF2B5EF4-FFF2-40B4-BE49-F238E27FC236}">
                <a16:creationId xmlns:a16="http://schemas.microsoft.com/office/drawing/2014/main" id="{E7470714-1D5C-67BA-8859-0EF312CFBBC0}"/>
              </a:ext>
            </a:extLst>
          </p:cNvPr>
          <p:cNvSpPr/>
          <p:nvPr/>
        </p:nvSpPr>
        <p:spPr>
          <a:xfrm>
            <a:off x="2468880" y="334670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T_interior = 20°C</a:t>
            </a:r>
            <a:endParaRPr lang="en-US" sz="1000" dirty="0"/>
          </a:p>
        </p:txBody>
      </p:sp>
      <p:sp>
        <p:nvSpPr>
          <p:cNvPr id="90" name="Shape 21">
            <a:extLst>
              <a:ext uri="{FF2B5EF4-FFF2-40B4-BE49-F238E27FC236}">
                <a16:creationId xmlns:a16="http://schemas.microsoft.com/office/drawing/2014/main" id="{55413BD3-E99D-B2F0-17DD-3C803284B970}"/>
              </a:ext>
            </a:extLst>
          </p:cNvPr>
          <p:cNvSpPr/>
          <p:nvPr/>
        </p:nvSpPr>
        <p:spPr>
          <a:xfrm>
            <a:off x="274320" y="3630168"/>
            <a:ext cx="3977640" cy="256032"/>
          </a:xfrm>
          <a:prstGeom prst="rect">
            <a:avLst/>
          </a:prstGeom>
          <a:solidFill>
            <a:srgbClr val="1A1A2C"/>
          </a:solidFill>
          <a:ln w="3810">
            <a:solidFill>
              <a:srgbClr val="1F618D"/>
            </a:solidFill>
            <a:prstDash val="solid"/>
          </a:ln>
        </p:spPr>
      </p:sp>
      <p:sp>
        <p:nvSpPr>
          <p:cNvPr id="91" name="Text 22">
            <a:extLst>
              <a:ext uri="{FF2B5EF4-FFF2-40B4-BE49-F238E27FC236}">
                <a16:creationId xmlns:a16="http://schemas.microsoft.com/office/drawing/2014/main" id="{54AC7552-DBA6-0015-4DEB-350FA29736C9}"/>
              </a:ext>
            </a:extLst>
          </p:cNvPr>
          <p:cNvSpPr/>
          <p:nvPr/>
        </p:nvSpPr>
        <p:spPr>
          <a:xfrm>
            <a:off x="347472" y="36301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Exterior Temperature:</a:t>
            </a:r>
            <a:endParaRPr lang="en-US" sz="1000" dirty="0"/>
          </a:p>
        </p:txBody>
      </p:sp>
      <p:sp>
        <p:nvSpPr>
          <p:cNvPr id="92" name="Text 23">
            <a:extLst>
              <a:ext uri="{FF2B5EF4-FFF2-40B4-BE49-F238E27FC236}">
                <a16:creationId xmlns:a16="http://schemas.microsoft.com/office/drawing/2014/main" id="{3B7B27D0-EB2C-9F46-95AD-AD18ACEE07F8}"/>
              </a:ext>
            </a:extLst>
          </p:cNvPr>
          <p:cNvSpPr/>
          <p:nvPr/>
        </p:nvSpPr>
        <p:spPr>
          <a:xfrm>
            <a:off x="2468880" y="36301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T_exterior = −10°C</a:t>
            </a:r>
            <a:endParaRPr lang="en-US" sz="1000" dirty="0"/>
          </a:p>
        </p:txBody>
      </p:sp>
      <p:sp>
        <p:nvSpPr>
          <p:cNvPr id="93" name="Shape 24">
            <a:extLst>
              <a:ext uri="{FF2B5EF4-FFF2-40B4-BE49-F238E27FC236}">
                <a16:creationId xmlns:a16="http://schemas.microsoft.com/office/drawing/2014/main" id="{E8B97D50-E52B-9038-AACA-D5242AE022FB}"/>
              </a:ext>
            </a:extLst>
          </p:cNvPr>
          <p:cNvSpPr/>
          <p:nvPr/>
        </p:nvSpPr>
        <p:spPr>
          <a:xfrm>
            <a:off x="274320" y="3913632"/>
            <a:ext cx="3977640" cy="256032"/>
          </a:xfrm>
          <a:prstGeom prst="rect">
            <a:avLst/>
          </a:prstGeom>
          <a:solidFill>
            <a:srgbClr val="1E1E32"/>
          </a:solidFill>
          <a:ln w="3810">
            <a:solidFill>
              <a:srgbClr val="1F618D"/>
            </a:solidFill>
            <a:prstDash val="solid"/>
          </a:ln>
        </p:spPr>
      </p:sp>
      <p:sp>
        <p:nvSpPr>
          <p:cNvPr id="94" name="Text 25">
            <a:extLst>
              <a:ext uri="{FF2B5EF4-FFF2-40B4-BE49-F238E27FC236}">
                <a16:creationId xmlns:a16="http://schemas.microsoft.com/office/drawing/2014/main" id="{9B4E5286-5628-3567-DFD4-343F25414203}"/>
              </a:ext>
            </a:extLst>
          </p:cNvPr>
          <p:cNvSpPr/>
          <p:nvPr/>
        </p:nvSpPr>
        <p:spPr>
          <a:xfrm>
            <a:off x="347472" y="39136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Size:</a:t>
            </a:r>
            <a:endParaRPr lang="en-US" sz="1000" dirty="0"/>
          </a:p>
        </p:txBody>
      </p:sp>
      <p:sp>
        <p:nvSpPr>
          <p:cNvPr id="95" name="Text 26">
            <a:extLst>
              <a:ext uri="{FF2B5EF4-FFF2-40B4-BE49-F238E27FC236}">
                <a16:creationId xmlns:a16="http://schemas.microsoft.com/office/drawing/2014/main" id="{11722CED-41AB-4D60-C51E-835CEC80DB39}"/>
              </a:ext>
            </a:extLst>
          </p:cNvPr>
          <p:cNvSpPr/>
          <p:nvPr/>
        </p:nvSpPr>
        <p:spPr>
          <a:xfrm>
            <a:off x="2468880" y="39136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300mm × 1000mm wall</a:t>
            </a:r>
            <a:endParaRPr lang="en-US" sz="1000" dirty="0"/>
          </a:p>
        </p:txBody>
      </p:sp>
      <p:sp>
        <p:nvSpPr>
          <p:cNvPr id="96" name="Shape 27">
            <a:extLst>
              <a:ext uri="{FF2B5EF4-FFF2-40B4-BE49-F238E27FC236}">
                <a16:creationId xmlns:a16="http://schemas.microsoft.com/office/drawing/2014/main" id="{C9BDAA22-ACD4-5EE1-05A3-BB6273BE6BE9}"/>
              </a:ext>
            </a:extLst>
          </p:cNvPr>
          <p:cNvSpPr/>
          <p:nvPr/>
        </p:nvSpPr>
        <p:spPr>
          <a:xfrm>
            <a:off x="274320" y="4197096"/>
            <a:ext cx="3977640" cy="256032"/>
          </a:xfrm>
          <a:prstGeom prst="rect">
            <a:avLst/>
          </a:prstGeom>
          <a:solidFill>
            <a:srgbClr val="1A1A2C"/>
          </a:solidFill>
          <a:ln w="3810">
            <a:solidFill>
              <a:srgbClr val="1F618D"/>
            </a:solidFill>
            <a:prstDash val="solid"/>
          </a:ln>
        </p:spPr>
      </p:sp>
      <p:sp>
        <p:nvSpPr>
          <p:cNvPr id="97" name="Text 28">
            <a:extLst>
              <a:ext uri="{FF2B5EF4-FFF2-40B4-BE49-F238E27FC236}">
                <a16:creationId xmlns:a16="http://schemas.microsoft.com/office/drawing/2014/main" id="{D245B6C6-3C0C-5F3E-3EEE-D0ADC16B7033}"/>
              </a:ext>
            </a:extLst>
          </p:cNvPr>
          <p:cNvSpPr/>
          <p:nvPr/>
        </p:nvSpPr>
        <p:spPr>
          <a:xfrm>
            <a:off x="347472" y="419709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BC: Left edge (x=0):</a:t>
            </a:r>
            <a:endParaRPr lang="en-US" sz="1000" dirty="0"/>
          </a:p>
        </p:txBody>
      </p:sp>
      <p:sp>
        <p:nvSpPr>
          <p:cNvPr id="98" name="Text 29">
            <a:extLst>
              <a:ext uri="{FF2B5EF4-FFF2-40B4-BE49-F238E27FC236}">
                <a16:creationId xmlns:a16="http://schemas.microsoft.com/office/drawing/2014/main" id="{931F7AEB-D76C-C780-0D42-1861154353EB}"/>
              </a:ext>
            </a:extLst>
          </p:cNvPr>
          <p:cNvSpPr/>
          <p:nvPr/>
        </p:nvSpPr>
        <p:spPr>
          <a:xfrm>
            <a:off x="2468880" y="41970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 = 20°C (heated room)</a:t>
            </a:r>
            <a:endParaRPr lang="en-US" sz="1000" dirty="0"/>
          </a:p>
        </p:txBody>
      </p:sp>
      <p:sp>
        <p:nvSpPr>
          <p:cNvPr id="99" name="Shape 30">
            <a:extLst>
              <a:ext uri="{FF2B5EF4-FFF2-40B4-BE49-F238E27FC236}">
                <a16:creationId xmlns:a16="http://schemas.microsoft.com/office/drawing/2014/main" id="{783169B7-BCF2-61CC-2CCD-1F82C7FDE0B1}"/>
              </a:ext>
            </a:extLst>
          </p:cNvPr>
          <p:cNvSpPr/>
          <p:nvPr/>
        </p:nvSpPr>
        <p:spPr>
          <a:xfrm>
            <a:off x="274320" y="4480560"/>
            <a:ext cx="3977640" cy="256032"/>
          </a:xfrm>
          <a:prstGeom prst="rect">
            <a:avLst/>
          </a:prstGeom>
          <a:solidFill>
            <a:srgbClr val="1E1E32"/>
          </a:solidFill>
          <a:ln w="3810">
            <a:solidFill>
              <a:srgbClr val="1F618D"/>
            </a:solidFill>
            <a:prstDash val="solid"/>
          </a:ln>
        </p:spPr>
      </p:sp>
      <p:sp>
        <p:nvSpPr>
          <p:cNvPr id="100" name="Text 31">
            <a:extLst>
              <a:ext uri="{FF2B5EF4-FFF2-40B4-BE49-F238E27FC236}">
                <a16:creationId xmlns:a16="http://schemas.microsoft.com/office/drawing/2014/main" id="{B9D1BA8E-D701-EACC-E4EC-A4AD0BF8875C}"/>
              </a:ext>
            </a:extLst>
          </p:cNvPr>
          <p:cNvSpPr/>
          <p:nvPr/>
        </p:nvSpPr>
        <p:spPr>
          <a:xfrm>
            <a:off x="347472" y="44805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BC: Right edge (x=Lx):</a:t>
            </a:r>
            <a:endParaRPr lang="en-US" sz="1000" dirty="0"/>
          </a:p>
        </p:txBody>
      </p:sp>
      <p:sp>
        <p:nvSpPr>
          <p:cNvPr id="101" name="Text 32">
            <a:extLst>
              <a:ext uri="{FF2B5EF4-FFF2-40B4-BE49-F238E27FC236}">
                <a16:creationId xmlns:a16="http://schemas.microsoft.com/office/drawing/2014/main" id="{B1E2962A-1911-E44A-5EA4-727437D9617B}"/>
              </a:ext>
            </a:extLst>
          </p:cNvPr>
          <p:cNvSpPr/>
          <p:nvPr/>
        </p:nvSpPr>
        <p:spPr>
          <a:xfrm>
            <a:off x="2468880" y="44805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Convection to −10°C outside</a:t>
            </a:r>
            <a:endParaRPr lang="en-US" sz="1000" dirty="0"/>
          </a:p>
        </p:txBody>
      </p:sp>
      <p:sp>
        <p:nvSpPr>
          <p:cNvPr id="102" name="Shape 33">
            <a:extLst>
              <a:ext uri="{FF2B5EF4-FFF2-40B4-BE49-F238E27FC236}">
                <a16:creationId xmlns:a16="http://schemas.microsoft.com/office/drawing/2014/main" id="{4DC60ECF-071A-763F-5C14-F3DBA1502FD2}"/>
              </a:ext>
            </a:extLst>
          </p:cNvPr>
          <p:cNvSpPr/>
          <p:nvPr/>
        </p:nvSpPr>
        <p:spPr>
          <a:xfrm>
            <a:off x="4434840" y="841248"/>
            <a:ext cx="4434840" cy="256032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03" name="Text 34">
            <a:extLst>
              <a:ext uri="{FF2B5EF4-FFF2-40B4-BE49-F238E27FC236}">
                <a16:creationId xmlns:a16="http://schemas.microsoft.com/office/drawing/2014/main" id="{BE5E3008-C842-35B3-70A0-A72A0249B12B}"/>
              </a:ext>
            </a:extLst>
          </p:cNvPr>
          <p:cNvSpPr/>
          <p:nvPr/>
        </p:nvSpPr>
        <p:spPr>
          <a:xfrm>
            <a:off x="4434840" y="841248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Distribution (T_max=20.0°C, T_min=−3.4°C)</a:t>
            </a:r>
            <a:endParaRPr lang="en-US" sz="1050" dirty="0"/>
          </a:p>
        </p:txBody>
      </p:sp>
      <p:pic>
        <p:nvPicPr>
          <p:cNvPr id="104" name="Image 1" descr="preencoded.png">
            <a:extLst>
              <a:ext uri="{FF2B5EF4-FFF2-40B4-BE49-F238E27FC236}">
                <a16:creationId xmlns:a16="http://schemas.microsoft.com/office/drawing/2014/main" id="{555B0E5A-B83E-1349-416F-F0B86EF0DFC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34840" y="1115568"/>
            <a:ext cx="4434840" cy="2788920"/>
          </a:xfrm>
          <a:prstGeom prst="rect">
            <a:avLst/>
          </a:prstGeom>
        </p:spPr>
      </p:pic>
      <p:sp>
        <p:nvSpPr>
          <p:cNvPr id="105" name="Shape 35">
            <a:extLst>
              <a:ext uri="{FF2B5EF4-FFF2-40B4-BE49-F238E27FC236}">
                <a16:creationId xmlns:a16="http://schemas.microsoft.com/office/drawing/2014/main" id="{AC3858E5-0D9F-6303-119A-46E89A5379BB}"/>
              </a:ext>
            </a:extLst>
          </p:cNvPr>
          <p:cNvSpPr/>
          <p:nvPr/>
        </p:nvSpPr>
        <p:spPr>
          <a:xfrm>
            <a:off x="4434840" y="3977640"/>
            <a:ext cx="4434840" cy="594360"/>
          </a:xfrm>
          <a:prstGeom prst="rect">
            <a:avLst/>
          </a:prstGeom>
          <a:solidFill>
            <a:srgbClr val="1E1E32"/>
          </a:solidFill>
          <a:ln w="9525">
            <a:solidFill>
              <a:srgbClr val="148F77"/>
            </a:solidFill>
            <a:prstDash val="solid"/>
          </a:ln>
        </p:spPr>
      </p:sp>
      <p:sp>
        <p:nvSpPr>
          <p:cNvPr id="106" name="Text 36">
            <a:extLst>
              <a:ext uri="{FF2B5EF4-FFF2-40B4-BE49-F238E27FC236}">
                <a16:creationId xmlns:a16="http://schemas.microsoft.com/office/drawing/2014/main" id="{0F621977-E668-77BA-0322-D8EABAA10AFA}"/>
              </a:ext>
            </a:extLst>
          </p:cNvPr>
          <p:cNvSpPr/>
          <p:nvPr/>
        </p:nvSpPr>
        <p:spPr>
          <a:xfrm>
            <a:off x="4498848" y="3995928"/>
            <a:ext cx="4306824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DE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drops linearly through the 300mm concrete wall from 20°C (interior) to −3.4°C near the exterior. This models classic winter heat loss — the steep gradient highlights poor insulation in concrete without additional layers.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6072486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D4500A"/>
          </a:solidFill>
          <a:ln w="12700">
            <a:solidFill>
              <a:srgbClr val="D45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CAPABILITIES &amp; LIMITATIONS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7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and Challenges of the FEM Implementation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114800" cy="3858768"/>
          </a:xfrm>
          <a:prstGeom prst="rect">
            <a:avLst/>
          </a:prstGeom>
          <a:solidFill>
            <a:srgbClr val="2E1505"/>
          </a:solidFill>
          <a:ln w="12700">
            <a:solidFill>
              <a:srgbClr val="E87D1E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4114800" cy="347472"/>
          </a:xfrm>
          <a:prstGeom prst="rect">
            <a:avLst/>
          </a:prstGeom>
          <a:solidFill>
            <a:srgbClr val="E87D1E"/>
          </a:solidFill>
          <a:ln w="12700">
            <a:solidFill>
              <a:srgbClr val="E87D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509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Solver Capabilities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complex L-shaped geometry via multi-block meshing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both Dirichlet (fixed T) and Robin (convection) BCs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FEM-based accurate temperature distribution results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MATLAB App Designer GUI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real-world scenarios: CPU &amp; Building wall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domain via configurable block count (1–4)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Color-interpolated patch plots with T_max / T_min annotations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914400"/>
            <a:ext cx="4114800" cy="3858768"/>
          </a:xfrm>
          <a:prstGeom prst="rect">
            <a:avLst/>
          </a:prstGeom>
          <a:solidFill>
            <a:srgbClr val="2E1505"/>
          </a:solidFill>
          <a:ln w="12700">
            <a:solidFill>
              <a:srgbClr val="D4500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14400"/>
            <a:ext cx="4114800" cy="347472"/>
          </a:xfrm>
          <a:prstGeom prst="rect">
            <a:avLst/>
          </a:prstGeom>
          <a:solidFill>
            <a:srgbClr val="D4500A"/>
          </a:solidFill>
          <a:ln w="12700">
            <a:solidFill>
              <a:srgbClr val="D450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9509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Limitations &amp; Challenges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325880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mesh → high computational cost and memory usage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T3 elements → constant gradient per element (approximation error)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ordering errors can cause incorrect area / matrix values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parameters constrained — only 4 block configurations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 formulation complexity: steep learning curve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Dirichlet enforcement requires careful row/column manipulation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transient analysis — steady-state only in current version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457200"/>
            <a:ext cx="3657600" cy="3657600"/>
          </a:xfrm>
          <a:prstGeom prst="ellipse">
            <a:avLst/>
          </a:prstGeom>
          <a:solidFill>
            <a:srgbClr val="D4500A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1097280"/>
            <a:ext cx="2377440" cy="2377440"/>
          </a:xfrm>
          <a:prstGeom prst="ellipse">
            <a:avLst/>
          </a:prstGeom>
          <a:solidFill>
            <a:srgbClr val="F5C842">
              <a:alpha val="2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D4500A"/>
          </a:solidFill>
          <a:ln w="12700">
            <a:solidFill>
              <a:srgbClr val="D450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400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7315200" cy="658368"/>
          </a:xfrm>
          <a:prstGeom prst="roundRect">
            <a:avLst>
              <a:gd name="adj" fmla="val 11111"/>
            </a:avLst>
          </a:prstGeom>
          <a:solidFill>
            <a:srgbClr val="2E1505"/>
          </a:solidFill>
          <a:ln w="12700">
            <a:solidFill>
              <a:srgbClr val="D4500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932688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4128" y="896112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 successfully implemented for 2D steady-state heat equation using T3 triangular elements.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" y="1581912"/>
            <a:ext cx="7315200" cy="658368"/>
          </a:xfrm>
          <a:prstGeom prst="roundRect">
            <a:avLst>
              <a:gd name="adj" fmla="val 11111"/>
            </a:avLst>
          </a:prstGeom>
          <a:solidFill>
            <a:srgbClr val="2E1505"/>
          </a:solidFill>
          <a:ln w="12700">
            <a:solidFill>
              <a:srgbClr val="D4500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709928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24128" y="1673352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App Designer GUI enhances usability — intuitive parameter control and scenario simulation.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0040" y="2359152"/>
            <a:ext cx="7315200" cy="658368"/>
          </a:xfrm>
          <a:prstGeom prst="roundRect">
            <a:avLst>
              <a:gd name="adj" fmla="val 11111"/>
            </a:avLst>
          </a:prstGeom>
          <a:solidFill>
            <a:srgbClr val="2E1505"/>
          </a:solidFill>
          <a:ln w="12700">
            <a:solidFill>
              <a:srgbClr val="D4500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487168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24128" y="2450592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temperature distribution obtained via robust matrix assembly and LU decomposition.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0040" y="3136392"/>
            <a:ext cx="7315200" cy="658368"/>
          </a:xfrm>
          <a:prstGeom prst="roundRect">
            <a:avLst>
              <a:gd name="adj" fmla="val 11111"/>
            </a:avLst>
          </a:prstGeom>
          <a:solidFill>
            <a:srgbClr val="2E1505"/>
          </a:solidFill>
          <a:ln w="12700">
            <a:solidFill>
              <a:srgbClr val="D4500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264408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24128" y="3227832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scenarios validated: CPU cooling (Silicon) and Building wall (Concrete) modeled correctly.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" y="3913632"/>
            <a:ext cx="7315200" cy="658368"/>
          </a:xfrm>
          <a:prstGeom prst="roundRect">
            <a:avLst>
              <a:gd name="adj" fmla="val 11111"/>
            </a:avLst>
          </a:prstGeom>
          <a:solidFill>
            <a:srgbClr val="2E1505"/>
          </a:solidFill>
          <a:ln w="12700">
            <a:solidFill>
              <a:srgbClr val="D4500A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4041648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24128" y="4005072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C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bridges theory and practice — FEM formulation, mesh generation, and MATLAB implementation.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solidFill>
            <a:srgbClr val="2D1200"/>
          </a:solidFill>
          <a:ln w="12700">
            <a:solidFill>
              <a:srgbClr val="E87D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690872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7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Transient analysis · Higher-order elements · 3D extension · Adaptive mesh refinement · Parallel computing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3237</Words>
  <Application>Microsoft Office PowerPoint</Application>
  <PresentationFormat>On-screen Show (16:9)</PresentationFormat>
  <Paragraphs>486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2D Heat Conduction Equation Solve in MATLAB</dc:title>
  <dc:subject>PptxGenJS Presentation</dc:subject>
  <dc:creator>PptxGenJS</dc:creator>
  <cp:lastModifiedBy>Arnob Pal</cp:lastModifiedBy>
  <cp:revision>3</cp:revision>
  <dcterms:created xsi:type="dcterms:W3CDTF">2026-04-06T12:23:52Z</dcterms:created>
  <dcterms:modified xsi:type="dcterms:W3CDTF">2026-04-06T15:55:40Z</dcterms:modified>
</cp:coreProperties>
</file>